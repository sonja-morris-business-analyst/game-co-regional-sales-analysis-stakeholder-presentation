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Poppins Italics" charset="1" panose="00000500000000000000"/>
      <p:regular r:id="rId15"/>
    </p:embeddedFont>
    <p:embeddedFont>
      <p:font typeface="Poppins Light" charset="1" panose="00000400000000000000"/>
      <p:regular r:id="rId16"/>
    </p:embeddedFont>
    <p:embeddedFont>
      <p:font typeface="Poppins Bold" charset="1" panose="00000800000000000000"/>
      <p:regular r:id="rId17"/>
    </p:embeddedFont>
    <p:embeddedFont>
      <p:font typeface="Poppins" charset="1" panose="00000500000000000000"/>
      <p:regular r:id="rId18"/>
    </p:embeddedFont>
    <p:embeddedFont>
      <p:font typeface="Montserrat Bold" charset="1" panose="00000800000000000000"/>
      <p:regular r:id="rId19"/>
    </p:embeddedFont>
    <p:embeddedFont>
      <p:font typeface="Montserrat"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6.png" Type="http://schemas.openxmlformats.org/officeDocument/2006/relationships/image"/><Relationship Id="rId6"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11" Target="../media/image24.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2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2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5.png" Type="http://schemas.openxmlformats.org/officeDocument/2006/relationships/image"/><Relationship Id="rId5" Target="../media/image2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media/image2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9.png" Type="http://schemas.openxmlformats.org/officeDocument/2006/relationships/image"/><Relationship Id="rId8" Target="../media/image6.png" Type="http://schemas.openxmlformats.org/officeDocument/2006/relationships/image"/><Relationship Id="rId9" Target="../media/image2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151037"/>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401739" y="-200418"/>
            <a:ext cx="16041779" cy="10687835"/>
          </a:xfrm>
          <a:custGeom>
            <a:avLst/>
            <a:gdLst/>
            <a:ahLst/>
            <a:cxnLst/>
            <a:rect r="r" b="b" t="t" l="l"/>
            <a:pathLst>
              <a:path h="10687835" w="16041779">
                <a:moveTo>
                  <a:pt x="0" y="0"/>
                </a:moveTo>
                <a:lnTo>
                  <a:pt x="16041779" y="0"/>
                </a:lnTo>
                <a:lnTo>
                  <a:pt x="16041779" y="10687836"/>
                </a:lnTo>
                <a:lnTo>
                  <a:pt x="0" y="10687836"/>
                </a:lnTo>
                <a:lnTo>
                  <a:pt x="0" y="0"/>
                </a:lnTo>
                <a:close/>
              </a:path>
            </a:pathLst>
          </a:custGeom>
          <a:blipFill>
            <a:blip r:embed="rId2"/>
            <a:stretch>
              <a:fillRect l="0" t="0" r="0" b="0"/>
            </a:stretch>
          </a:blipFill>
        </p:spPr>
      </p:sp>
      <p:grpSp>
        <p:nvGrpSpPr>
          <p:cNvPr name="Group 6" id="6"/>
          <p:cNvGrpSpPr/>
          <p:nvPr/>
        </p:nvGrpSpPr>
        <p:grpSpPr>
          <a:xfrm rot="0">
            <a:off x="6102098" y="0"/>
            <a:ext cx="7717357" cy="10287000"/>
            <a:chOff x="0" y="0"/>
            <a:chExt cx="3943771" cy="5256926"/>
          </a:xfrm>
        </p:grpSpPr>
        <p:sp>
          <p:nvSpPr>
            <p:cNvPr name="Freeform 7" id="7"/>
            <p:cNvSpPr/>
            <p:nvPr/>
          </p:nvSpPr>
          <p:spPr>
            <a:xfrm flipH="false" flipV="false" rot="0">
              <a:off x="0" y="0"/>
              <a:ext cx="3943771" cy="5256926"/>
            </a:xfrm>
            <a:custGeom>
              <a:avLst/>
              <a:gdLst/>
              <a:ahLst/>
              <a:cxnLst/>
              <a:rect r="r" b="b" t="t" l="l"/>
              <a:pathLst>
                <a:path h="5256926" w="3943771">
                  <a:moveTo>
                    <a:pt x="0" y="0"/>
                  </a:moveTo>
                  <a:lnTo>
                    <a:pt x="3943771" y="0"/>
                  </a:lnTo>
                  <a:lnTo>
                    <a:pt x="3943771" y="5256926"/>
                  </a:lnTo>
                  <a:lnTo>
                    <a:pt x="0" y="5256926"/>
                  </a:lnTo>
                  <a:close/>
                </a:path>
              </a:pathLst>
            </a:custGeom>
            <a:gradFill rotWithShape="true">
              <a:gsLst>
                <a:gs pos="0">
                  <a:srgbClr val="5347D9">
                    <a:alpha val="0"/>
                  </a:srgbClr>
                </a:gs>
                <a:gs pos="100000">
                  <a:srgbClr val="151037">
                    <a:alpha val="100000"/>
                  </a:srgbClr>
                </a:gs>
              </a:gsLst>
              <a:lin ang="0"/>
            </a:gradFill>
          </p:spPr>
        </p:sp>
        <p:sp>
          <p:nvSpPr>
            <p:cNvPr name="TextBox 8" id="8"/>
            <p:cNvSpPr txBox="true"/>
            <p:nvPr/>
          </p:nvSpPr>
          <p:spPr>
            <a:xfrm>
              <a:off x="0" y="-66675"/>
              <a:ext cx="3943771" cy="5323601"/>
            </a:xfrm>
            <a:prstGeom prst="rect">
              <a:avLst/>
            </a:prstGeom>
          </p:spPr>
          <p:txBody>
            <a:bodyPr anchor="ctr" rtlCol="false" tIns="50800" lIns="50800" bIns="50800" rIns="50800"/>
            <a:lstStyle/>
            <a:p>
              <a:pPr algn="ctr">
                <a:lnSpc>
                  <a:spcPts val="3359"/>
                </a:lnSpc>
              </a:pPr>
            </a:p>
          </p:txBody>
        </p:sp>
      </p:grpSp>
      <p:sp>
        <p:nvSpPr>
          <p:cNvPr name="Freeform 9" id="9"/>
          <p:cNvSpPr/>
          <p:nvPr/>
        </p:nvSpPr>
        <p:spPr>
          <a:xfrm flipH="false" flipV="true" rot="-2524046">
            <a:off x="10621834" y="2815027"/>
            <a:ext cx="15332333" cy="6612069"/>
          </a:xfrm>
          <a:custGeom>
            <a:avLst/>
            <a:gdLst/>
            <a:ahLst/>
            <a:cxnLst/>
            <a:rect r="r" b="b" t="t" l="l"/>
            <a:pathLst>
              <a:path h="6612069" w="15332333">
                <a:moveTo>
                  <a:pt x="0" y="6612068"/>
                </a:moveTo>
                <a:lnTo>
                  <a:pt x="15332332" y="6612068"/>
                </a:lnTo>
                <a:lnTo>
                  <a:pt x="15332332" y="0"/>
                </a:lnTo>
                <a:lnTo>
                  <a:pt x="0" y="0"/>
                </a:lnTo>
                <a:lnTo>
                  <a:pt x="0" y="6612068"/>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10" id="10"/>
          <p:cNvGrpSpPr/>
          <p:nvPr/>
        </p:nvGrpSpPr>
        <p:grpSpPr>
          <a:xfrm rot="-10800000">
            <a:off x="0" y="3263480"/>
            <a:ext cx="18288000" cy="3760040"/>
            <a:chOff x="0" y="0"/>
            <a:chExt cx="9345646" cy="1921479"/>
          </a:xfrm>
        </p:grpSpPr>
        <p:sp>
          <p:nvSpPr>
            <p:cNvPr name="Freeform 11" id="11"/>
            <p:cNvSpPr/>
            <p:nvPr/>
          </p:nvSpPr>
          <p:spPr>
            <a:xfrm flipH="false" flipV="false" rot="0">
              <a:off x="0" y="0"/>
              <a:ext cx="9345647" cy="1921479"/>
            </a:xfrm>
            <a:custGeom>
              <a:avLst/>
              <a:gdLst/>
              <a:ahLst/>
              <a:cxnLst/>
              <a:rect r="r" b="b" t="t" l="l"/>
              <a:pathLst>
                <a:path h="1921479" w="9345647">
                  <a:moveTo>
                    <a:pt x="0" y="0"/>
                  </a:moveTo>
                  <a:lnTo>
                    <a:pt x="9345647" y="0"/>
                  </a:lnTo>
                  <a:lnTo>
                    <a:pt x="9345647" y="1921479"/>
                  </a:lnTo>
                  <a:lnTo>
                    <a:pt x="0" y="1921479"/>
                  </a:lnTo>
                  <a:close/>
                </a:path>
              </a:pathLst>
            </a:custGeom>
            <a:gradFill rotWithShape="true">
              <a:gsLst>
                <a:gs pos="0">
                  <a:srgbClr val="5347D9">
                    <a:alpha val="0"/>
                  </a:srgbClr>
                </a:gs>
                <a:gs pos="100000">
                  <a:srgbClr val="5347D9">
                    <a:alpha val="74500"/>
                  </a:srgbClr>
                </a:gs>
              </a:gsLst>
              <a:lin ang="2700000"/>
            </a:gradFill>
            <a:ln w="47625" cap="sq">
              <a:gradFill>
                <a:gsLst>
                  <a:gs pos="0">
                    <a:srgbClr val="5347D9">
                      <a:alpha val="0"/>
                    </a:srgbClr>
                  </a:gs>
                  <a:gs pos="100000">
                    <a:srgbClr val="6153FF">
                      <a:alpha val="100000"/>
                    </a:srgbClr>
                  </a:gs>
                </a:gsLst>
                <a:path path="circle">
                  <a:fillToRect l="0" r="100000" t="0" b="100000"/>
                </a:path>
                <a:tileRect r="0" l="-100000" b="0" t="-100000"/>
              </a:gradFill>
              <a:prstDash val="solid"/>
              <a:miter/>
            </a:ln>
          </p:spPr>
        </p:sp>
        <p:sp>
          <p:nvSpPr>
            <p:cNvPr name="TextBox 12" id="12"/>
            <p:cNvSpPr txBox="true"/>
            <p:nvPr/>
          </p:nvSpPr>
          <p:spPr>
            <a:xfrm>
              <a:off x="0" y="-66675"/>
              <a:ext cx="9345646" cy="1988154"/>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13" id="13"/>
          <p:cNvSpPr/>
          <p:nvPr/>
        </p:nvSpPr>
        <p:spPr>
          <a:xfrm flipH="false" flipV="false" rot="0">
            <a:off x="8070057" y="2819600"/>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5"/>
            <a:stretch>
              <a:fillRect l="0" t="0" r="0" b="0"/>
            </a:stretch>
          </a:blipFill>
          <a:ln cap="sq">
            <a:noFill/>
            <a:prstDash val="solid"/>
            <a:miter/>
          </a:ln>
        </p:spPr>
      </p:sp>
      <p:sp>
        <p:nvSpPr>
          <p:cNvPr name="Freeform 14" id="14"/>
          <p:cNvSpPr/>
          <p:nvPr/>
        </p:nvSpPr>
        <p:spPr>
          <a:xfrm flipH="false" flipV="false" rot="0">
            <a:off x="10790158" y="6579640"/>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6"/>
            <a:stretch>
              <a:fillRect l="0" t="0" r="0" b="0"/>
            </a:stretch>
          </a:blipFill>
        </p:spPr>
      </p:sp>
      <p:sp>
        <p:nvSpPr>
          <p:cNvPr name="Freeform 15" id="15"/>
          <p:cNvSpPr/>
          <p:nvPr/>
        </p:nvSpPr>
        <p:spPr>
          <a:xfrm flipH="false" flipV="false" rot="0">
            <a:off x="2180968" y="3168516"/>
            <a:ext cx="6963032" cy="4908937"/>
          </a:xfrm>
          <a:custGeom>
            <a:avLst/>
            <a:gdLst/>
            <a:ahLst/>
            <a:cxnLst/>
            <a:rect r="r" b="b" t="t" l="l"/>
            <a:pathLst>
              <a:path h="4908937" w="6963032">
                <a:moveTo>
                  <a:pt x="0" y="0"/>
                </a:moveTo>
                <a:lnTo>
                  <a:pt x="6963032" y="0"/>
                </a:lnTo>
                <a:lnTo>
                  <a:pt x="6963032" y="4908937"/>
                </a:lnTo>
                <a:lnTo>
                  <a:pt x="0" y="4908937"/>
                </a:lnTo>
                <a:lnTo>
                  <a:pt x="0" y="0"/>
                </a:lnTo>
                <a:close/>
              </a:path>
            </a:pathLst>
          </a:custGeom>
          <a:blipFill>
            <a:blip r:embed="rId7"/>
            <a:stretch>
              <a:fillRect l="0" t="0" r="0" b="0"/>
            </a:stretch>
          </a:blipFill>
        </p:spPr>
      </p:sp>
      <p:sp>
        <p:nvSpPr>
          <p:cNvPr name="TextBox 16" id="16"/>
          <p:cNvSpPr txBox="true"/>
          <p:nvPr/>
        </p:nvSpPr>
        <p:spPr>
          <a:xfrm rot="0">
            <a:off x="8473243" y="5791804"/>
            <a:ext cx="5346212" cy="329257"/>
          </a:xfrm>
          <a:prstGeom prst="rect">
            <a:avLst/>
          </a:prstGeom>
        </p:spPr>
        <p:txBody>
          <a:bodyPr anchor="t" rtlCol="false" tIns="0" lIns="0" bIns="0" rIns="0">
            <a:spAutoFit/>
          </a:bodyPr>
          <a:lstStyle/>
          <a:p>
            <a:pPr algn="ctr">
              <a:lnSpc>
                <a:spcPts val="2676"/>
              </a:lnSpc>
            </a:pPr>
            <a:r>
              <a:rPr lang="en-US" sz="1912" i="true">
                <a:solidFill>
                  <a:srgbClr val="FFFFFF"/>
                </a:solidFill>
                <a:latin typeface="Poppins Italics"/>
                <a:ea typeface="Poppins Italics"/>
                <a:cs typeface="Poppins Italics"/>
                <a:sym typeface="Poppins Italics"/>
              </a:rPr>
              <a:t>Final Project Presentation</a:t>
            </a:r>
          </a:p>
        </p:txBody>
      </p:sp>
      <p:sp>
        <p:nvSpPr>
          <p:cNvPr name="TextBox 17" id="17"/>
          <p:cNvSpPr txBox="true"/>
          <p:nvPr/>
        </p:nvSpPr>
        <p:spPr>
          <a:xfrm rot="0">
            <a:off x="9577137" y="3911332"/>
            <a:ext cx="7124768" cy="1928097"/>
          </a:xfrm>
          <a:prstGeom prst="rect">
            <a:avLst/>
          </a:prstGeom>
        </p:spPr>
        <p:txBody>
          <a:bodyPr anchor="t" rtlCol="false" tIns="0" lIns="0" bIns="0" rIns="0">
            <a:spAutoFit/>
          </a:bodyPr>
          <a:lstStyle/>
          <a:p>
            <a:pPr algn="l">
              <a:lnSpc>
                <a:spcPts val="6505"/>
              </a:lnSpc>
            </a:pPr>
            <a:r>
              <a:rPr lang="en-US" sz="6441">
                <a:solidFill>
                  <a:srgbClr val="FFFFFF"/>
                </a:solidFill>
                <a:latin typeface="Poppins Light"/>
                <a:ea typeface="Poppins Light"/>
                <a:cs typeface="Poppins Light"/>
                <a:sym typeface="Poppins Light"/>
              </a:rPr>
              <a:t>GAMECO </a:t>
            </a:r>
          </a:p>
          <a:p>
            <a:pPr algn="l">
              <a:lnSpc>
                <a:spcPts val="7919"/>
              </a:lnSpc>
            </a:pPr>
          </a:p>
        </p:txBody>
      </p:sp>
      <p:sp>
        <p:nvSpPr>
          <p:cNvPr name="TextBox 18" id="18"/>
          <p:cNvSpPr txBox="true"/>
          <p:nvPr/>
        </p:nvSpPr>
        <p:spPr>
          <a:xfrm rot="0">
            <a:off x="9577137" y="4748443"/>
            <a:ext cx="7124768" cy="941306"/>
          </a:xfrm>
          <a:prstGeom prst="rect">
            <a:avLst/>
          </a:prstGeom>
        </p:spPr>
        <p:txBody>
          <a:bodyPr anchor="t" rtlCol="false" tIns="0" lIns="0" bIns="0" rIns="0">
            <a:spAutoFit/>
          </a:bodyPr>
          <a:lstStyle/>
          <a:p>
            <a:pPr algn="l">
              <a:lnSpc>
                <a:spcPts val="6707"/>
              </a:lnSpc>
            </a:pPr>
            <a:r>
              <a:rPr lang="en-US" sz="6641" b="true">
                <a:solidFill>
                  <a:srgbClr val="00CCFF"/>
                </a:solidFill>
                <a:latin typeface="Poppins Bold"/>
                <a:ea typeface="Poppins Bold"/>
                <a:cs typeface="Poppins Bold"/>
                <a:sym typeface="Poppins Bold"/>
              </a:rPr>
              <a:t>REGIONAL SALES</a:t>
            </a:r>
          </a:p>
        </p:txBody>
      </p:sp>
      <p:sp>
        <p:nvSpPr>
          <p:cNvPr name="TextBox 19" id="19"/>
          <p:cNvSpPr txBox="true"/>
          <p:nvPr/>
        </p:nvSpPr>
        <p:spPr>
          <a:xfrm rot="0">
            <a:off x="14490212" y="1553268"/>
            <a:ext cx="2026444" cy="674751"/>
          </a:xfrm>
          <a:prstGeom prst="rect">
            <a:avLst/>
          </a:prstGeom>
        </p:spPr>
        <p:txBody>
          <a:bodyPr anchor="t" rtlCol="false" tIns="0" lIns="0" bIns="0" rIns="0">
            <a:spAutoFit/>
          </a:bodyPr>
          <a:lstStyle/>
          <a:p>
            <a:pPr algn="l">
              <a:lnSpc>
                <a:spcPts val="2940"/>
              </a:lnSpc>
            </a:pPr>
            <a:r>
              <a:rPr lang="en-US" sz="2100" b="true">
                <a:solidFill>
                  <a:srgbClr val="FF2CED"/>
                </a:solidFill>
                <a:latin typeface="Poppins Bold"/>
                <a:ea typeface="Poppins Bold"/>
                <a:cs typeface="Poppins Bold"/>
                <a:sym typeface="Poppins Bold"/>
              </a:rPr>
              <a:t>SONJA MORRIS</a:t>
            </a:r>
          </a:p>
          <a:p>
            <a:pPr algn="l">
              <a:lnSpc>
                <a:spcPts val="1973"/>
              </a:lnSpc>
            </a:pPr>
            <a:r>
              <a:rPr lang="en-US" sz="2100" spc="-14" b="true">
                <a:solidFill>
                  <a:srgbClr val="9999FF"/>
                </a:solidFill>
                <a:latin typeface="Poppins Bold"/>
                <a:ea typeface="Poppins Bold"/>
                <a:cs typeface="Poppins Bold"/>
                <a:sym typeface="Poppins Bold"/>
              </a:rPr>
              <a:t>DATA ANALYST</a:t>
            </a:r>
          </a:p>
        </p:txBody>
      </p:sp>
      <p:sp>
        <p:nvSpPr>
          <p:cNvPr name="Freeform 20" id="20"/>
          <p:cNvSpPr/>
          <p:nvPr/>
        </p:nvSpPr>
        <p:spPr>
          <a:xfrm flipH="true" flipV="true" rot="0">
            <a:off x="13767096" y="1662773"/>
            <a:ext cx="565246" cy="565246"/>
          </a:xfrm>
          <a:custGeom>
            <a:avLst/>
            <a:gdLst/>
            <a:ahLst/>
            <a:cxnLst/>
            <a:rect r="r" b="b" t="t" l="l"/>
            <a:pathLst>
              <a:path h="565246" w="565246">
                <a:moveTo>
                  <a:pt x="565246" y="565246"/>
                </a:moveTo>
                <a:lnTo>
                  <a:pt x="0" y="565246"/>
                </a:lnTo>
                <a:lnTo>
                  <a:pt x="0" y="0"/>
                </a:lnTo>
                <a:lnTo>
                  <a:pt x="565246" y="0"/>
                </a:lnTo>
                <a:lnTo>
                  <a:pt x="565246" y="565246"/>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51037"/>
        </a:solidFill>
      </p:bgPr>
    </p:bg>
    <p:spTree>
      <p:nvGrpSpPr>
        <p:cNvPr id="1" name=""/>
        <p:cNvGrpSpPr/>
        <p:nvPr/>
      </p:nvGrpSpPr>
      <p:grpSpPr>
        <a:xfrm>
          <a:off x="0" y="0"/>
          <a:ext cx="0" cy="0"/>
          <a:chOff x="0" y="0"/>
          <a:chExt cx="0" cy="0"/>
        </a:xfrm>
      </p:grpSpPr>
      <p:sp>
        <p:nvSpPr>
          <p:cNvPr name="Freeform 2" id="2"/>
          <p:cNvSpPr/>
          <p:nvPr/>
        </p:nvSpPr>
        <p:spPr>
          <a:xfrm flipH="false" flipV="true" rot="-2207116">
            <a:off x="-7343157" y="2506615"/>
            <a:ext cx="15332333" cy="6612069"/>
          </a:xfrm>
          <a:custGeom>
            <a:avLst/>
            <a:gdLst/>
            <a:ahLst/>
            <a:cxnLst/>
            <a:rect r="r" b="b" t="t" l="l"/>
            <a:pathLst>
              <a:path h="6612069" w="15332333">
                <a:moveTo>
                  <a:pt x="0" y="6612068"/>
                </a:moveTo>
                <a:lnTo>
                  <a:pt x="15332333" y="6612068"/>
                </a:lnTo>
                <a:lnTo>
                  <a:pt x="15332333" y="0"/>
                </a:lnTo>
                <a:lnTo>
                  <a:pt x="0" y="0"/>
                </a:lnTo>
                <a:lnTo>
                  <a:pt x="0" y="6612068"/>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10800000">
            <a:off x="0" y="-120224"/>
            <a:ext cx="18288000" cy="6134891"/>
            <a:chOff x="0" y="0"/>
            <a:chExt cx="9345646" cy="3135090"/>
          </a:xfrm>
        </p:grpSpPr>
        <p:sp>
          <p:nvSpPr>
            <p:cNvPr name="Freeform 4" id="4"/>
            <p:cNvSpPr/>
            <p:nvPr/>
          </p:nvSpPr>
          <p:spPr>
            <a:xfrm flipH="false" flipV="false" rot="0">
              <a:off x="0" y="0"/>
              <a:ext cx="9345647" cy="3135090"/>
            </a:xfrm>
            <a:custGeom>
              <a:avLst/>
              <a:gdLst/>
              <a:ahLst/>
              <a:cxnLst/>
              <a:rect r="r" b="b" t="t" l="l"/>
              <a:pathLst>
                <a:path h="3135090" w="9345647">
                  <a:moveTo>
                    <a:pt x="0" y="0"/>
                  </a:moveTo>
                  <a:lnTo>
                    <a:pt x="9345647" y="0"/>
                  </a:lnTo>
                  <a:lnTo>
                    <a:pt x="9345647" y="3135090"/>
                  </a:lnTo>
                  <a:lnTo>
                    <a:pt x="0" y="3135090"/>
                  </a:lnTo>
                  <a:close/>
                </a:path>
              </a:pathLst>
            </a:custGeom>
            <a:gradFill rotWithShape="true">
              <a:gsLst>
                <a:gs pos="0">
                  <a:srgbClr val="5347D9">
                    <a:alpha val="0"/>
                  </a:srgbClr>
                </a:gs>
                <a:gs pos="100000">
                  <a:srgbClr val="5347D9">
                    <a:alpha val="59500"/>
                  </a:srgbClr>
                </a:gs>
              </a:gsLst>
              <a:lin ang="5400000"/>
            </a:gradFill>
          </p:spPr>
        </p:sp>
        <p:sp>
          <p:nvSpPr>
            <p:cNvPr name="TextBox 5" id="5"/>
            <p:cNvSpPr txBox="true"/>
            <p:nvPr/>
          </p:nvSpPr>
          <p:spPr>
            <a:xfrm>
              <a:off x="0" y="-66675"/>
              <a:ext cx="9345646" cy="3201765"/>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936629" y="950800"/>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4"/>
            <a:stretch>
              <a:fillRect l="0" t="0" r="0" b="0"/>
            </a:stretch>
          </a:blipFill>
          <a:ln cap="sq">
            <a:noFill/>
            <a:prstDash val="solid"/>
            <a:miter/>
          </a:ln>
        </p:spPr>
      </p:sp>
      <p:sp>
        <p:nvSpPr>
          <p:cNvPr name="Freeform 7" id="7"/>
          <p:cNvSpPr/>
          <p:nvPr/>
        </p:nvSpPr>
        <p:spPr>
          <a:xfrm flipH="false" flipV="false" rot="0">
            <a:off x="1128443" y="1838560"/>
            <a:ext cx="5756500" cy="4058332"/>
          </a:xfrm>
          <a:custGeom>
            <a:avLst/>
            <a:gdLst/>
            <a:ahLst/>
            <a:cxnLst/>
            <a:rect r="r" b="b" t="t" l="l"/>
            <a:pathLst>
              <a:path h="4058332" w="5756500">
                <a:moveTo>
                  <a:pt x="0" y="0"/>
                </a:moveTo>
                <a:lnTo>
                  <a:pt x="5756499" y="0"/>
                </a:lnTo>
                <a:lnTo>
                  <a:pt x="5756499" y="4058332"/>
                </a:lnTo>
                <a:lnTo>
                  <a:pt x="0" y="4058332"/>
                </a:lnTo>
                <a:lnTo>
                  <a:pt x="0" y="0"/>
                </a:lnTo>
                <a:close/>
              </a:path>
            </a:pathLst>
          </a:custGeom>
          <a:blipFill>
            <a:blip r:embed="rId5"/>
            <a:stretch>
              <a:fillRect l="0" t="0" r="0" b="0"/>
            </a:stretch>
          </a:blipFill>
        </p:spPr>
      </p:sp>
      <p:sp>
        <p:nvSpPr>
          <p:cNvPr name="TextBox 8" id="8"/>
          <p:cNvSpPr txBox="true"/>
          <p:nvPr/>
        </p:nvSpPr>
        <p:spPr>
          <a:xfrm rot="0">
            <a:off x="7614234" y="452099"/>
            <a:ext cx="8344670" cy="1157861"/>
          </a:xfrm>
          <a:prstGeom prst="rect">
            <a:avLst/>
          </a:prstGeom>
        </p:spPr>
        <p:txBody>
          <a:bodyPr anchor="t" rtlCol="false" tIns="0" lIns="0" bIns="0" rIns="0">
            <a:spAutoFit/>
          </a:bodyPr>
          <a:lstStyle/>
          <a:p>
            <a:pPr algn="l">
              <a:lnSpc>
                <a:spcPts val="4747"/>
              </a:lnSpc>
            </a:pPr>
            <a:r>
              <a:rPr lang="en-US" sz="4700">
                <a:solidFill>
                  <a:srgbClr val="FFFFFF"/>
                </a:solidFill>
                <a:latin typeface="Poppins"/>
                <a:ea typeface="Poppins"/>
                <a:cs typeface="Poppins"/>
                <a:sym typeface="Poppins"/>
              </a:rPr>
              <a:t>DATA OVERVIEW</a:t>
            </a:r>
          </a:p>
          <a:p>
            <a:pPr algn="l">
              <a:lnSpc>
                <a:spcPts val="3939"/>
              </a:lnSpc>
            </a:pPr>
            <a:r>
              <a:rPr lang="en-US" sz="3900" b="true">
                <a:solidFill>
                  <a:srgbClr val="FF2CED"/>
                </a:solidFill>
                <a:latin typeface="Poppins Bold"/>
                <a:ea typeface="Poppins Bold"/>
                <a:cs typeface="Poppins Bold"/>
                <a:sym typeface="Poppins Bold"/>
              </a:rPr>
              <a:t>DATA AND COMPANY CONTEXT</a:t>
            </a:r>
          </a:p>
        </p:txBody>
      </p:sp>
      <p:grpSp>
        <p:nvGrpSpPr>
          <p:cNvPr name="Group 9" id="9"/>
          <p:cNvGrpSpPr/>
          <p:nvPr/>
        </p:nvGrpSpPr>
        <p:grpSpPr>
          <a:xfrm rot="-10800000">
            <a:off x="424873" y="8702349"/>
            <a:ext cx="17210176" cy="1239385"/>
            <a:chOff x="0" y="0"/>
            <a:chExt cx="8794850" cy="633358"/>
          </a:xfrm>
        </p:grpSpPr>
        <p:sp>
          <p:nvSpPr>
            <p:cNvPr name="Freeform 10" id="10"/>
            <p:cNvSpPr/>
            <p:nvPr/>
          </p:nvSpPr>
          <p:spPr>
            <a:xfrm flipH="false" flipV="false" rot="0">
              <a:off x="0" y="0"/>
              <a:ext cx="8794850" cy="633358"/>
            </a:xfrm>
            <a:custGeom>
              <a:avLst/>
              <a:gdLst/>
              <a:ahLst/>
              <a:cxnLst/>
              <a:rect r="r" b="b" t="t" l="l"/>
              <a:pathLst>
                <a:path h="633358" w="8794850">
                  <a:moveTo>
                    <a:pt x="0" y="0"/>
                  </a:moveTo>
                  <a:lnTo>
                    <a:pt x="8794850" y="0"/>
                  </a:lnTo>
                  <a:lnTo>
                    <a:pt x="8794850" y="633358"/>
                  </a:lnTo>
                  <a:lnTo>
                    <a:pt x="0" y="633358"/>
                  </a:lnTo>
                  <a:close/>
                </a:path>
              </a:pathLst>
            </a:custGeom>
            <a:gradFill rotWithShape="true">
              <a:gsLst>
                <a:gs pos="0">
                  <a:srgbClr val="5347D9">
                    <a:alpha val="0"/>
                  </a:srgbClr>
                </a:gs>
                <a:gs pos="100000">
                  <a:srgbClr val="5347D9">
                    <a:alpha val="74500"/>
                  </a:srgbClr>
                </a:gs>
              </a:gsLst>
              <a:lin ang="5400000"/>
            </a:gradFill>
            <a:ln w="28575" cap="sq">
              <a:gradFill>
                <a:gsLst>
                  <a:gs pos="0">
                    <a:srgbClr val="5347D9">
                      <a:alpha val="100000"/>
                    </a:srgbClr>
                  </a:gs>
                  <a:gs pos="100000">
                    <a:srgbClr val="5347D9">
                      <a:alpha val="0"/>
                    </a:srgbClr>
                  </a:gs>
                </a:gsLst>
                <a:lin ang="2700000"/>
              </a:gradFill>
              <a:prstDash val="solid"/>
              <a:miter/>
            </a:ln>
          </p:spPr>
        </p:sp>
        <p:sp>
          <p:nvSpPr>
            <p:cNvPr name="TextBox 11" id="11"/>
            <p:cNvSpPr txBox="true"/>
            <p:nvPr/>
          </p:nvSpPr>
          <p:spPr>
            <a:xfrm>
              <a:off x="0" y="-66675"/>
              <a:ext cx="8794850" cy="700033"/>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TextBox 12" id="12"/>
          <p:cNvSpPr txBox="true"/>
          <p:nvPr/>
        </p:nvSpPr>
        <p:spPr>
          <a:xfrm rot="0">
            <a:off x="741343" y="8872896"/>
            <a:ext cx="16821517" cy="358775"/>
          </a:xfrm>
          <a:prstGeom prst="rect">
            <a:avLst/>
          </a:prstGeom>
        </p:spPr>
        <p:txBody>
          <a:bodyPr anchor="t" rtlCol="false" tIns="0" lIns="0" bIns="0" rIns="0">
            <a:spAutoFit/>
          </a:bodyPr>
          <a:lstStyle/>
          <a:p>
            <a:pPr algn="l">
              <a:lnSpc>
                <a:spcPts val="2800"/>
              </a:lnSpc>
            </a:pPr>
            <a:r>
              <a:rPr lang="en-US" sz="2000" b="true">
                <a:solidFill>
                  <a:srgbClr val="FFFFFF"/>
                </a:solidFill>
                <a:latin typeface="Poppins Bold"/>
                <a:ea typeface="Poppins Bold"/>
                <a:cs typeface="Poppins Bold"/>
                <a:sym typeface="Poppins Bold"/>
              </a:rPr>
              <a:t>Current understanding: the mix of video game sales across regions (North America, EU, Japan, Other) has been stable over time </a:t>
            </a:r>
          </a:p>
        </p:txBody>
      </p:sp>
      <p:sp>
        <p:nvSpPr>
          <p:cNvPr name="TextBox 13" id="13"/>
          <p:cNvSpPr txBox="true"/>
          <p:nvPr/>
        </p:nvSpPr>
        <p:spPr>
          <a:xfrm rot="0">
            <a:off x="741343" y="9323244"/>
            <a:ext cx="9241654" cy="1179830"/>
          </a:xfrm>
          <a:prstGeom prst="rect">
            <a:avLst/>
          </a:prstGeom>
        </p:spPr>
        <p:txBody>
          <a:bodyPr anchor="t" rtlCol="false" tIns="0" lIns="0" bIns="0" rIns="0">
            <a:spAutoFit/>
          </a:bodyPr>
          <a:lstStyle/>
          <a:p>
            <a:pPr algn="l">
              <a:lnSpc>
                <a:spcPts val="3220"/>
              </a:lnSpc>
            </a:pPr>
            <a:r>
              <a:rPr lang="en-US" sz="2300" b="true">
                <a:solidFill>
                  <a:srgbClr val="2EB2FF"/>
                </a:solidFill>
                <a:latin typeface="Poppins Bold"/>
                <a:ea typeface="Poppins Bold"/>
                <a:cs typeface="Poppins Bold"/>
                <a:sym typeface="Poppins Bold"/>
              </a:rPr>
              <a:t>THE 2017 MARKETING PLAN ASSUMES NO MAJOR CHANGE</a:t>
            </a:r>
          </a:p>
          <a:p>
            <a:pPr algn="l">
              <a:lnSpc>
                <a:spcPts val="3220"/>
              </a:lnSpc>
            </a:pPr>
          </a:p>
          <a:p>
            <a:pPr algn="l">
              <a:lnSpc>
                <a:spcPts val="3220"/>
              </a:lnSpc>
            </a:pPr>
          </a:p>
        </p:txBody>
      </p:sp>
      <p:grpSp>
        <p:nvGrpSpPr>
          <p:cNvPr name="Group 14" id="14"/>
          <p:cNvGrpSpPr/>
          <p:nvPr/>
        </p:nvGrpSpPr>
        <p:grpSpPr>
          <a:xfrm rot="-10800000">
            <a:off x="7614234" y="1838560"/>
            <a:ext cx="9948626" cy="6428531"/>
            <a:chOff x="0" y="0"/>
            <a:chExt cx="5084008" cy="3285147"/>
          </a:xfrm>
        </p:grpSpPr>
        <p:sp>
          <p:nvSpPr>
            <p:cNvPr name="Freeform 15" id="15"/>
            <p:cNvSpPr/>
            <p:nvPr/>
          </p:nvSpPr>
          <p:spPr>
            <a:xfrm flipH="false" flipV="false" rot="0">
              <a:off x="0" y="0"/>
              <a:ext cx="5084008" cy="3285148"/>
            </a:xfrm>
            <a:custGeom>
              <a:avLst/>
              <a:gdLst/>
              <a:ahLst/>
              <a:cxnLst/>
              <a:rect r="r" b="b" t="t" l="l"/>
              <a:pathLst>
                <a:path h="3285148" w="5084008">
                  <a:moveTo>
                    <a:pt x="0" y="0"/>
                  </a:moveTo>
                  <a:lnTo>
                    <a:pt x="5084008" y="0"/>
                  </a:lnTo>
                  <a:lnTo>
                    <a:pt x="5084008" y="3285148"/>
                  </a:lnTo>
                  <a:lnTo>
                    <a:pt x="0" y="3285148"/>
                  </a:lnTo>
                  <a:close/>
                </a:path>
              </a:pathLst>
            </a:custGeom>
            <a:gradFill rotWithShape="true">
              <a:gsLst>
                <a:gs pos="0">
                  <a:srgbClr val="5347D9">
                    <a:alpha val="0"/>
                  </a:srgbClr>
                </a:gs>
                <a:gs pos="100000">
                  <a:srgbClr val="5347D9">
                    <a:alpha val="74500"/>
                  </a:srgbClr>
                </a:gs>
              </a:gsLst>
              <a:lin ang="5400000"/>
            </a:gradFill>
            <a:ln w="28575" cap="sq">
              <a:gradFill>
                <a:gsLst>
                  <a:gs pos="0">
                    <a:srgbClr val="5347D9">
                      <a:alpha val="0"/>
                    </a:srgbClr>
                  </a:gs>
                  <a:gs pos="100000">
                    <a:srgbClr val="151037">
                      <a:alpha val="100000"/>
                    </a:srgbClr>
                  </a:gs>
                </a:gsLst>
                <a:lin ang="0"/>
              </a:gradFill>
              <a:prstDash val="solid"/>
              <a:miter/>
            </a:ln>
          </p:spPr>
        </p:sp>
        <p:sp>
          <p:nvSpPr>
            <p:cNvPr name="TextBox 16" id="16"/>
            <p:cNvSpPr txBox="true"/>
            <p:nvPr/>
          </p:nvSpPr>
          <p:spPr>
            <a:xfrm>
              <a:off x="0" y="-66675"/>
              <a:ext cx="5084008" cy="3351822"/>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17" id="17"/>
          <p:cNvSpPr/>
          <p:nvPr/>
        </p:nvSpPr>
        <p:spPr>
          <a:xfrm flipH="false" flipV="false" rot="0">
            <a:off x="9750313" y="7823211"/>
            <a:ext cx="6140127" cy="887760"/>
          </a:xfrm>
          <a:custGeom>
            <a:avLst/>
            <a:gdLst/>
            <a:ahLst/>
            <a:cxnLst/>
            <a:rect r="r" b="b" t="t" l="l"/>
            <a:pathLst>
              <a:path h="887760" w="6140127">
                <a:moveTo>
                  <a:pt x="0" y="0"/>
                </a:moveTo>
                <a:lnTo>
                  <a:pt x="6140126" y="0"/>
                </a:lnTo>
                <a:lnTo>
                  <a:pt x="6140126" y="887760"/>
                </a:lnTo>
                <a:lnTo>
                  <a:pt x="0" y="887760"/>
                </a:lnTo>
                <a:lnTo>
                  <a:pt x="0" y="0"/>
                </a:lnTo>
                <a:close/>
              </a:path>
            </a:pathLst>
          </a:custGeom>
          <a:blipFill>
            <a:blip r:embed="rId6"/>
            <a:stretch>
              <a:fillRect l="0" t="0" r="0" b="0"/>
            </a:stretch>
          </a:blipFill>
        </p:spPr>
      </p:sp>
      <p:sp>
        <p:nvSpPr>
          <p:cNvPr name="TextBox 18" id="18"/>
          <p:cNvSpPr txBox="true"/>
          <p:nvPr/>
        </p:nvSpPr>
        <p:spPr>
          <a:xfrm rot="0">
            <a:off x="7829373" y="2063126"/>
            <a:ext cx="9518348" cy="5607685"/>
          </a:xfrm>
          <a:prstGeom prst="rect">
            <a:avLst/>
          </a:prstGeom>
        </p:spPr>
        <p:txBody>
          <a:bodyPr anchor="t" rtlCol="false" tIns="0" lIns="0" bIns="0" rIns="0">
            <a:spAutoFit/>
          </a:bodyPr>
          <a:lstStyle/>
          <a:p>
            <a:pPr algn="l">
              <a:lnSpc>
                <a:spcPts val="2239"/>
              </a:lnSpc>
            </a:pPr>
            <a:r>
              <a:rPr lang="en-US" sz="1599">
                <a:solidFill>
                  <a:srgbClr val="FFFFFF"/>
                </a:solidFill>
                <a:latin typeface="Poppins"/>
                <a:ea typeface="Poppins"/>
                <a:cs typeface="Poppins"/>
                <a:sym typeface="Poppins"/>
              </a:rPr>
              <a:t>This project is based on a dataset of 16,598 video game records compiled from global sales figures. Each record represents a single video game title, including attributes such as name, platform, genre, publisher, release year, and regional sales performance. </a:t>
            </a:r>
          </a:p>
          <a:p>
            <a:pPr algn="l">
              <a:lnSpc>
                <a:spcPts val="2239"/>
              </a:lnSpc>
            </a:pPr>
          </a:p>
          <a:p>
            <a:pPr algn="l">
              <a:lnSpc>
                <a:spcPts val="2239"/>
              </a:lnSpc>
            </a:pPr>
            <a:r>
              <a:rPr lang="en-US" sz="1599">
                <a:solidFill>
                  <a:srgbClr val="FFFFFF"/>
                </a:solidFill>
                <a:latin typeface="Poppins"/>
                <a:ea typeface="Poppins"/>
                <a:cs typeface="Poppins"/>
                <a:sym typeface="Poppins"/>
              </a:rPr>
              <a:t>GameCo is a fictitious video game publisher that develops and distributes video games on multiple platforms and is currently planning its 2017 global marketing budget.</a:t>
            </a:r>
          </a:p>
          <a:p>
            <a:pPr algn="l">
              <a:lnSpc>
                <a:spcPts val="2239"/>
              </a:lnSpc>
            </a:pPr>
            <a:r>
              <a:rPr lang="en-US" sz="1599">
                <a:solidFill>
                  <a:srgbClr val="FFFFFF"/>
                </a:solidFill>
                <a:latin typeface="Poppins"/>
                <a:ea typeface="Poppins"/>
                <a:cs typeface="Poppins"/>
                <a:sym typeface="Poppins"/>
              </a:rPr>
              <a:t>GameCo’s executive board believes that sales distribution among the four regions has remained stable over time. This analysis examines whether that assumption holds true by exploring sales trends, regional shares, and per-title performance from 2006 to 2016.</a:t>
            </a:r>
          </a:p>
          <a:p>
            <a:pPr algn="l">
              <a:lnSpc>
                <a:spcPts val="2239"/>
              </a:lnSpc>
            </a:pPr>
          </a:p>
          <a:p>
            <a:pPr algn="l">
              <a:lnSpc>
                <a:spcPts val="2239"/>
              </a:lnSpc>
            </a:pPr>
            <a:r>
              <a:rPr lang="en-US" sz="1599">
                <a:solidFill>
                  <a:srgbClr val="FFFFFF"/>
                </a:solidFill>
                <a:latin typeface="Poppins"/>
                <a:ea typeface="Poppins"/>
                <a:cs typeface="Poppins"/>
                <a:sym typeface="Poppins"/>
              </a:rPr>
              <a:t>The data covers video game sales across four key geographic regions:</a:t>
            </a:r>
          </a:p>
          <a:p>
            <a:pPr algn="l" marL="345439" indent="-172720" lvl="1">
              <a:lnSpc>
                <a:spcPts val="2239"/>
              </a:lnSpc>
              <a:buFont typeface="Arial"/>
              <a:buChar char="•"/>
            </a:pPr>
            <a:r>
              <a:rPr lang="en-US" sz="1599">
                <a:solidFill>
                  <a:srgbClr val="FFFFFF"/>
                </a:solidFill>
                <a:latin typeface="Poppins"/>
                <a:ea typeface="Poppins"/>
                <a:cs typeface="Poppins"/>
                <a:sym typeface="Poppins"/>
              </a:rPr>
              <a:t>North America (NA)</a:t>
            </a:r>
          </a:p>
          <a:p>
            <a:pPr algn="l" marL="345439" indent="-172720" lvl="1">
              <a:lnSpc>
                <a:spcPts val="2239"/>
              </a:lnSpc>
              <a:buFont typeface="Arial"/>
              <a:buChar char="•"/>
            </a:pPr>
            <a:r>
              <a:rPr lang="en-US" sz="1599">
                <a:solidFill>
                  <a:srgbClr val="FFFFFF"/>
                </a:solidFill>
                <a:latin typeface="Poppins"/>
                <a:ea typeface="Poppins"/>
                <a:cs typeface="Poppins"/>
                <a:sym typeface="Poppins"/>
              </a:rPr>
              <a:t>Europe (EU)</a:t>
            </a:r>
          </a:p>
          <a:p>
            <a:pPr algn="l" marL="345439" indent="-172720" lvl="1">
              <a:lnSpc>
                <a:spcPts val="2239"/>
              </a:lnSpc>
              <a:buFont typeface="Arial"/>
              <a:buChar char="•"/>
            </a:pPr>
            <a:r>
              <a:rPr lang="en-US" sz="1599">
                <a:solidFill>
                  <a:srgbClr val="FFFFFF"/>
                </a:solidFill>
                <a:latin typeface="Poppins"/>
                <a:ea typeface="Poppins"/>
                <a:cs typeface="Poppins"/>
                <a:sym typeface="Poppins"/>
              </a:rPr>
              <a:t>Japan (JP)</a:t>
            </a:r>
          </a:p>
          <a:p>
            <a:pPr algn="l" marL="345439" indent="-172720" lvl="1">
              <a:lnSpc>
                <a:spcPts val="2239"/>
              </a:lnSpc>
              <a:buFont typeface="Arial"/>
              <a:buChar char="•"/>
            </a:pPr>
            <a:r>
              <a:rPr lang="en-US" sz="1599">
                <a:solidFill>
                  <a:srgbClr val="FFFFFF"/>
                </a:solidFill>
                <a:latin typeface="Poppins"/>
                <a:ea typeface="Poppins"/>
                <a:cs typeface="Poppins"/>
                <a:sym typeface="Poppins"/>
              </a:rPr>
              <a:t>Other regions (including markets in South America, Africa, and Oceania)</a:t>
            </a:r>
          </a:p>
          <a:p>
            <a:pPr algn="l">
              <a:lnSpc>
                <a:spcPts val="2239"/>
              </a:lnSpc>
            </a:pPr>
          </a:p>
          <a:p>
            <a:pPr algn="l">
              <a:lnSpc>
                <a:spcPts val="2239"/>
              </a:lnSpc>
            </a:pPr>
            <a:r>
              <a:rPr lang="en-US" sz="1599" b="true">
                <a:solidFill>
                  <a:srgbClr val="2EB2FF"/>
                </a:solidFill>
                <a:latin typeface="Poppins Bold"/>
                <a:ea typeface="Poppins Bold"/>
                <a:cs typeface="Poppins Bold"/>
                <a:sym typeface="Poppins Bold"/>
              </a:rPr>
              <a:t>A total of 16,598 data rows were analyzed, filtered by year and region, to identify shifts in market dominance and provide evidence-based recommendations for the company’s future marketing strategy.</a:t>
            </a:r>
          </a:p>
          <a:p>
            <a:pPr algn="l">
              <a:lnSpc>
                <a:spcPts val="2239"/>
              </a:lnSpc>
            </a:pPr>
          </a:p>
          <a:p>
            <a:pPr algn="l">
              <a:lnSpc>
                <a:spcPts val="223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51037"/>
        </a:solidFill>
      </p:bgPr>
    </p:bg>
    <p:spTree>
      <p:nvGrpSpPr>
        <p:cNvPr id="1" name=""/>
        <p:cNvGrpSpPr/>
        <p:nvPr/>
      </p:nvGrpSpPr>
      <p:grpSpPr>
        <a:xfrm>
          <a:off x="0" y="0"/>
          <a:ext cx="0" cy="0"/>
          <a:chOff x="0" y="0"/>
          <a:chExt cx="0" cy="0"/>
        </a:xfrm>
      </p:grpSpPr>
      <p:grpSp>
        <p:nvGrpSpPr>
          <p:cNvPr name="Group 2" id="2"/>
          <p:cNvGrpSpPr/>
          <p:nvPr/>
        </p:nvGrpSpPr>
        <p:grpSpPr>
          <a:xfrm rot="-10800000">
            <a:off x="936708" y="6154226"/>
            <a:ext cx="9082352" cy="2479416"/>
            <a:chOff x="0" y="0"/>
            <a:chExt cx="4641320" cy="1267046"/>
          </a:xfrm>
        </p:grpSpPr>
        <p:sp>
          <p:nvSpPr>
            <p:cNvPr name="Freeform 3" id="3"/>
            <p:cNvSpPr/>
            <p:nvPr/>
          </p:nvSpPr>
          <p:spPr>
            <a:xfrm flipH="false" flipV="false" rot="0">
              <a:off x="0" y="0"/>
              <a:ext cx="4641319" cy="1267046"/>
            </a:xfrm>
            <a:custGeom>
              <a:avLst/>
              <a:gdLst/>
              <a:ahLst/>
              <a:cxnLst/>
              <a:rect r="r" b="b" t="t" l="l"/>
              <a:pathLst>
                <a:path h="1267046" w="4641319">
                  <a:moveTo>
                    <a:pt x="0" y="0"/>
                  </a:moveTo>
                  <a:lnTo>
                    <a:pt x="4641319" y="0"/>
                  </a:lnTo>
                  <a:lnTo>
                    <a:pt x="4641319" y="1267046"/>
                  </a:lnTo>
                  <a:lnTo>
                    <a:pt x="0" y="1267046"/>
                  </a:lnTo>
                  <a:close/>
                </a:path>
              </a:pathLst>
            </a:custGeom>
            <a:gradFill rotWithShape="true">
              <a:gsLst>
                <a:gs pos="0">
                  <a:srgbClr val="5347D9">
                    <a:alpha val="0"/>
                  </a:srgbClr>
                </a:gs>
                <a:gs pos="100000">
                  <a:srgbClr val="5347D9">
                    <a:alpha val="74500"/>
                  </a:srgbClr>
                </a:gs>
              </a:gsLst>
              <a:lin ang="5400000"/>
            </a:gradFill>
            <a:ln w="28575" cap="sq">
              <a:gradFill>
                <a:gsLst>
                  <a:gs pos="0">
                    <a:srgbClr val="5347D9">
                      <a:alpha val="100000"/>
                    </a:srgbClr>
                  </a:gs>
                  <a:gs pos="100000">
                    <a:srgbClr val="5347D9">
                      <a:alpha val="0"/>
                    </a:srgbClr>
                  </a:gs>
                </a:gsLst>
                <a:lin ang="2700000"/>
              </a:gradFill>
              <a:prstDash val="solid"/>
              <a:miter/>
            </a:ln>
          </p:spPr>
        </p:sp>
        <p:sp>
          <p:nvSpPr>
            <p:cNvPr name="TextBox 4" id="4"/>
            <p:cNvSpPr txBox="true"/>
            <p:nvPr/>
          </p:nvSpPr>
          <p:spPr>
            <a:xfrm>
              <a:off x="0" y="-66675"/>
              <a:ext cx="4641320" cy="1333721"/>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5" id="5"/>
          <p:cNvSpPr/>
          <p:nvPr/>
        </p:nvSpPr>
        <p:spPr>
          <a:xfrm flipH="false" flipV="false" rot="2013877">
            <a:off x="-5161194" y="6021542"/>
            <a:ext cx="12593792" cy="5431073"/>
          </a:xfrm>
          <a:custGeom>
            <a:avLst/>
            <a:gdLst/>
            <a:ahLst/>
            <a:cxnLst/>
            <a:rect r="r" b="b" t="t" l="l"/>
            <a:pathLst>
              <a:path h="5431073" w="12593792">
                <a:moveTo>
                  <a:pt x="0" y="0"/>
                </a:moveTo>
                <a:lnTo>
                  <a:pt x="12593792" y="0"/>
                </a:lnTo>
                <a:lnTo>
                  <a:pt x="12593792" y="5431073"/>
                </a:lnTo>
                <a:lnTo>
                  <a:pt x="0" y="54310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10125341" y="7043084"/>
            <a:ext cx="6697699" cy="1893595"/>
            <a:chOff x="0" y="0"/>
            <a:chExt cx="3422699" cy="967677"/>
          </a:xfrm>
        </p:grpSpPr>
        <p:sp>
          <p:nvSpPr>
            <p:cNvPr name="Freeform 7" id="7"/>
            <p:cNvSpPr/>
            <p:nvPr/>
          </p:nvSpPr>
          <p:spPr>
            <a:xfrm flipH="false" flipV="false" rot="0">
              <a:off x="0" y="0"/>
              <a:ext cx="3422700" cy="967677"/>
            </a:xfrm>
            <a:custGeom>
              <a:avLst/>
              <a:gdLst/>
              <a:ahLst/>
              <a:cxnLst/>
              <a:rect r="r" b="b" t="t" l="l"/>
              <a:pathLst>
                <a:path h="967677" w="3422700">
                  <a:moveTo>
                    <a:pt x="0" y="0"/>
                  </a:moveTo>
                  <a:lnTo>
                    <a:pt x="3422700" y="0"/>
                  </a:lnTo>
                  <a:lnTo>
                    <a:pt x="3422700" y="967677"/>
                  </a:lnTo>
                  <a:lnTo>
                    <a:pt x="0" y="967677"/>
                  </a:lnTo>
                  <a:close/>
                </a:path>
              </a:pathLst>
            </a:custGeom>
            <a:gradFill rotWithShape="true">
              <a:gsLst>
                <a:gs pos="0">
                  <a:srgbClr val="5347D9">
                    <a:alpha val="75000"/>
                  </a:srgbClr>
                </a:gs>
                <a:gs pos="100000">
                  <a:srgbClr val="5347D9">
                    <a:alpha val="0"/>
                  </a:srgbClr>
                </a:gs>
              </a:gsLst>
              <a:lin ang="5400000"/>
            </a:gradFill>
            <a:ln w="38100" cap="sq">
              <a:gradFill>
                <a:gsLst>
                  <a:gs pos="0">
                    <a:srgbClr val="5347D9">
                      <a:alpha val="100000"/>
                    </a:srgbClr>
                  </a:gs>
                  <a:gs pos="100000">
                    <a:srgbClr val="5347D9">
                      <a:alpha val="0"/>
                    </a:srgbClr>
                  </a:gs>
                </a:gsLst>
                <a:lin ang="2700000"/>
              </a:gradFill>
              <a:prstDash val="solid"/>
              <a:miter/>
            </a:ln>
          </p:spPr>
        </p:sp>
        <p:sp>
          <p:nvSpPr>
            <p:cNvPr name="TextBox 8" id="8"/>
            <p:cNvSpPr txBox="true"/>
            <p:nvPr/>
          </p:nvSpPr>
          <p:spPr>
            <a:xfrm>
              <a:off x="0" y="-66675"/>
              <a:ext cx="3422699" cy="1034352"/>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9" id="9"/>
          <p:cNvSpPr/>
          <p:nvPr/>
        </p:nvSpPr>
        <p:spPr>
          <a:xfrm flipH="false" flipV="false" rot="0">
            <a:off x="10891614" y="7570652"/>
            <a:ext cx="838458" cy="838458"/>
          </a:xfrm>
          <a:custGeom>
            <a:avLst/>
            <a:gdLst/>
            <a:ahLst/>
            <a:cxnLst/>
            <a:rect r="r" b="b" t="t" l="l"/>
            <a:pathLst>
              <a:path h="838458" w="838458">
                <a:moveTo>
                  <a:pt x="0" y="0"/>
                </a:moveTo>
                <a:lnTo>
                  <a:pt x="838458" y="0"/>
                </a:lnTo>
                <a:lnTo>
                  <a:pt x="838458" y="838458"/>
                </a:lnTo>
                <a:lnTo>
                  <a:pt x="0" y="8384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2487424" y="7327259"/>
            <a:ext cx="2024697" cy="441325"/>
          </a:xfrm>
          <a:prstGeom prst="rect">
            <a:avLst/>
          </a:prstGeom>
        </p:spPr>
        <p:txBody>
          <a:bodyPr anchor="t" rtlCol="false" tIns="0" lIns="0" bIns="0" rIns="0">
            <a:spAutoFit/>
          </a:bodyPr>
          <a:lstStyle/>
          <a:p>
            <a:pPr algn="l">
              <a:lnSpc>
                <a:spcPts val="3499"/>
              </a:lnSpc>
            </a:pPr>
            <a:r>
              <a:rPr lang="en-US" sz="2499" b="true">
                <a:solidFill>
                  <a:srgbClr val="FFFFFF"/>
                </a:solidFill>
                <a:latin typeface="Poppins Bold"/>
                <a:ea typeface="Poppins Bold"/>
                <a:cs typeface="Poppins Bold"/>
                <a:sym typeface="Poppins Bold"/>
              </a:rPr>
              <a:t>General AI</a:t>
            </a:r>
          </a:p>
        </p:txBody>
      </p:sp>
      <p:sp>
        <p:nvSpPr>
          <p:cNvPr name="Freeform 11" id="11"/>
          <p:cNvSpPr/>
          <p:nvPr/>
        </p:nvSpPr>
        <p:spPr>
          <a:xfrm flipH="false" flipV="false" rot="0">
            <a:off x="11698268" y="6663317"/>
            <a:ext cx="5627707" cy="813673"/>
          </a:xfrm>
          <a:custGeom>
            <a:avLst/>
            <a:gdLst/>
            <a:ahLst/>
            <a:cxnLst/>
            <a:rect r="r" b="b" t="t" l="l"/>
            <a:pathLst>
              <a:path h="813673" w="5627707">
                <a:moveTo>
                  <a:pt x="0" y="0"/>
                </a:moveTo>
                <a:lnTo>
                  <a:pt x="5627707" y="0"/>
                </a:lnTo>
                <a:lnTo>
                  <a:pt x="5627707" y="813673"/>
                </a:lnTo>
                <a:lnTo>
                  <a:pt x="0" y="813673"/>
                </a:lnTo>
                <a:lnTo>
                  <a:pt x="0" y="0"/>
                </a:lnTo>
                <a:close/>
              </a:path>
            </a:pathLst>
          </a:custGeom>
          <a:blipFill>
            <a:blip r:embed="rId6"/>
            <a:stretch>
              <a:fillRect l="0" t="0" r="0" b="0"/>
            </a:stretch>
          </a:blipFill>
        </p:spPr>
      </p:sp>
      <p:sp>
        <p:nvSpPr>
          <p:cNvPr name="Freeform 12" id="12"/>
          <p:cNvSpPr/>
          <p:nvPr/>
        </p:nvSpPr>
        <p:spPr>
          <a:xfrm flipH="false" flipV="false" rot="0">
            <a:off x="1028700" y="415478"/>
            <a:ext cx="4840941" cy="4114800"/>
          </a:xfrm>
          <a:custGeom>
            <a:avLst/>
            <a:gdLst/>
            <a:ahLst/>
            <a:cxnLst/>
            <a:rect r="r" b="b" t="t" l="l"/>
            <a:pathLst>
              <a:path h="4114800" w="4840941">
                <a:moveTo>
                  <a:pt x="0" y="0"/>
                </a:moveTo>
                <a:lnTo>
                  <a:pt x="4840941" y="0"/>
                </a:lnTo>
                <a:lnTo>
                  <a:pt x="4840941"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2013877">
            <a:off x="6890437" y="1398914"/>
            <a:ext cx="12593792" cy="5431073"/>
          </a:xfrm>
          <a:custGeom>
            <a:avLst/>
            <a:gdLst/>
            <a:ahLst/>
            <a:cxnLst/>
            <a:rect r="r" b="b" t="t" l="l"/>
            <a:pathLst>
              <a:path h="5431073" w="12593792">
                <a:moveTo>
                  <a:pt x="0" y="0"/>
                </a:moveTo>
                <a:lnTo>
                  <a:pt x="12593793" y="0"/>
                </a:lnTo>
                <a:lnTo>
                  <a:pt x="12593793" y="5431073"/>
                </a:lnTo>
                <a:lnTo>
                  <a:pt x="0" y="54310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4" id="14"/>
          <p:cNvSpPr/>
          <p:nvPr/>
        </p:nvSpPr>
        <p:spPr>
          <a:xfrm flipH="false" flipV="false" rot="0">
            <a:off x="8850352" y="4359594"/>
            <a:ext cx="9035199" cy="5421119"/>
          </a:xfrm>
          <a:custGeom>
            <a:avLst/>
            <a:gdLst/>
            <a:ahLst/>
            <a:cxnLst/>
            <a:rect r="r" b="b" t="t" l="l"/>
            <a:pathLst>
              <a:path h="5421119" w="9035199">
                <a:moveTo>
                  <a:pt x="0" y="0"/>
                </a:moveTo>
                <a:lnTo>
                  <a:pt x="9035199" y="0"/>
                </a:lnTo>
                <a:lnTo>
                  <a:pt x="9035199" y="5421119"/>
                </a:lnTo>
                <a:lnTo>
                  <a:pt x="0" y="5421119"/>
                </a:lnTo>
                <a:lnTo>
                  <a:pt x="0" y="0"/>
                </a:lnTo>
                <a:close/>
              </a:path>
            </a:pathLst>
          </a:custGeom>
          <a:blipFill>
            <a:blip r:embed="rId9"/>
            <a:stretch>
              <a:fillRect l="0" t="0" r="0" b="0"/>
            </a:stretch>
          </a:blipFill>
        </p:spPr>
      </p:sp>
      <p:sp>
        <p:nvSpPr>
          <p:cNvPr name="Freeform 15" id="15"/>
          <p:cNvSpPr/>
          <p:nvPr/>
        </p:nvSpPr>
        <p:spPr>
          <a:xfrm flipH="false" flipV="false" rot="0">
            <a:off x="8343282" y="4359594"/>
            <a:ext cx="10068543" cy="341367"/>
          </a:xfrm>
          <a:custGeom>
            <a:avLst/>
            <a:gdLst/>
            <a:ahLst/>
            <a:cxnLst/>
            <a:rect r="r" b="b" t="t" l="l"/>
            <a:pathLst>
              <a:path h="341367" w="10068543">
                <a:moveTo>
                  <a:pt x="0" y="0"/>
                </a:moveTo>
                <a:lnTo>
                  <a:pt x="10068543" y="0"/>
                </a:lnTo>
                <a:lnTo>
                  <a:pt x="10068543" y="341367"/>
                </a:lnTo>
                <a:lnTo>
                  <a:pt x="0" y="341367"/>
                </a:lnTo>
                <a:lnTo>
                  <a:pt x="0" y="0"/>
                </a:lnTo>
                <a:close/>
              </a:path>
            </a:pathLst>
          </a:custGeom>
          <a:blipFill>
            <a:blip r:embed="rId10"/>
            <a:stretch>
              <a:fillRect l="0" t="-1144728" r="0" b="-1704749"/>
            </a:stretch>
          </a:blipFill>
        </p:spPr>
      </p:sp>
      <p:sp>
        <p:nvSpPr>
          <p:cNvPr name="TextBox 16" id="16"/>
          <p:cNvSpPr txBox="true"/>
          <p:nvPr/>
        </p:nvSpPr>
        <p:spPr>
          <a:xfrm rot="0">
            <a:off x="1028700" y="6214550"/>
            <a:ext cx="7314582" cy="2194560"/>
          </a:xfrm>
          <a:prstGeom prst="rect">
            <a:avLst/>
          </a:prstGeom>
        </p:spPr>
        <p:txBody>
          <a:bodyPr anchor="t" rtlCol="false" tIns="0" lIns="0" bIns="0" rIns="0">
            <a:spAutoFit/>
          </a:bodyPr>
          <a:lstStyle/>
          <a:p>
            <a:pPr algn="l">
              <a:lnSpc>
                <a:spcPts val="2940"/>
              </a:lnSpc>
            </a:pPr>
            <a:r>
              <a:rPr lang="en-US" sz="2100" b="true">
                <a:solidFill>
                  <a:srgbClr val="2EB2FF"/>
                </a:solidFill>
                <a:latin typeface="Montserrat Bold"/>
                <a:ea typeface="Montserrat Bold"/>
                <a:cs typeface="Montserrat Bold"/>
                <a:sym typeface="Montserrat Bold"/>
              </a:rPr>
              <a:t>INTERPRETATION:</a:t>
            </a:r>
          </a:p>
          <a:p>
            <a:pPr algn="l">
              <a:lnSpc>
                <a:spcPts val="2940"/>
              </a:lnSpc>
            </a:pPr>
            <a:r>
              <a:rPr lang="en-US" sz="2100">
                <a:solidFill>
                  <a:srgbClr val="FFFFFF"/>
                </a:solidFill>
                <a:latin typeface="Montserrat"/>
                <a:ea typeface="Montserrat"/>
                <a:cs typeface="Montserrat"/>
                <a:sym typeface="Montserrat"/>
              </a:rPr>
              <a:t>NORTH AMERICA</a:t>
            </a:r>
            <a:r>
              <a:rPr lang="en-US" sz="2100">
                <a:solidFill>
                  <a:srgbClr val="FFFFFF"/>
                </a:solidFill>
                <a:latin typeface="Montserrat"/>
                <a:ea typeface="Montserrat"/>
                <a:cs typeface="Montserrat"/>
                <a:sym typeface="Montserrat"/>
              </a:rPr>
              <a:t>’s share has steadily declined since 2007, EU’s share has risen and now leads, and Japan´s share shows an uptick in 2016. Other remains broadly stable.</a:t>
            </a:r>
          </a:p>
          <a:p>
            <a:pPr algn="l">
              <a:lnSpc>
                <a:spcPts val="2940"/>
              </a:lnSpc>
            </a:pPr>
          </a:p>
        </p:txBody>
      </p:sp>
      <p:sp>
        <p:nvSpPr>
          <p:cNvPr name="TextBox 17" id="17"/>
          <p:cNvSpPr txBox="true"/>
          <p:nvPr/>
        </p:nvSpPr>
        <p:spPr>
          <a:xfrm rot="0">
            <a:off x="1028700" y="5162550"/>
            <a:ext cx="9307197" cy="2642808"/>
          </a:xfrm>
          <a:prstGeom prst="rect">
            <a:avLst/>
          </a:prstGeom>
        </p:spPr>
        <p:txBody>
          <a:bodyPr anchor="t" rtlCol="false" tIns="0" lIns="0" bIns="0" rIns="0">
            <a:spAutoFit/>
          </a:bodyPr>
          <a:lstStyle/>
          <a:p>
            <a:pPr algn="l">
              <a:lnSpc>
                <a:spcPts val="3434"/>
              </a:lnSpc>
            </a:pPr>
            <a:r>
              <a:rPr lang="en-US" sz="3400" spc="-163">
                <a:solidFill>
                  <a:srgbClr val="FFFFFF"/>
                </a:solidFill>
                <a:latin typeface="Poppins"/>
                <a:ea typeface="Poppins"/>
                <a:cs typeface="Poppins"/>
                <a:sym typeface="Poppins"/>
              </a:rPr>
              <a:t>REGIONAL SHARE OF GLOBAL SALES </a:t>
            </a:r>
          </a:p>
          <a:p>
            <a:pPr algn="l">
              <a:lnSpc>
                <a:spcPts val="3434"/>
              </a:lnSpc>
            </a:pPr>
            <a:r>
              <a:rPr lang="en-US" sz="3400" b="true">
                <a:solidFill>
                  <a:srgbClr val="FF2CED"/>
                </a:solidFill>
                <a:latin typeface="Poppins Bold"/>
                <a:ea typeface="Poppins Bold"/>
                <a:cs typeface="Poppins Bold"/>
                <a:sym typeface="Poppins Bold"/>
              </a:rPr>
              <a:t>2006–2016</a:t>
            </a:r>
          </a:p>
          <a:p>
            <a:pPr algn="l">
              <a:lnSpc>
                <a:spcPts val="6767"/>
              </a:lnSpc>
            </a:pPr>
          </a:p>
          <a:p>
            <a:pPr algn="l">
              <a:lnSpc>
                <a:spcPts val="6767"/>
              </a:lnSpc>
            </a:pPr>
          </a:p>
        </p:txBody>
      </p:sp>
      <p:sp>
        <p:nvSpPr>
          <p:cNvPr name="Freeform 18" id="18"/>
          <p:cNvSpPr/>
          <p:nvPr/>
        </p:nvSpPr>
        <p:spPr>
          <a:xfrm flipH="false" flipV="false" rot="-5400000">
            <a:off x="6282135" y="6927811"/>
            <a:ext cx="5421119" cy="284685"/>
          </a:xfrm>
          <a:custGeom>
            <a:avLst/>
            <a:gdLst/>
            <a:ahLst/>
            <a:cxnLst/>
            <a:rect r="r" b="b" t="t" l="l"/>
            <a:pathLst>
              <a:path h="284685" w="5421119">
                <a:moveTo>
                  <a:pt x="0" y="0"/>
                </a:moveTo>
                <a:lnTo>
                  <a:pt x="5421119" y="0"/>
                </a:lnTo>
                <a:lnTo>
                  <a:pt x="5421119" y="284685"/>
                </a:lnTo>
                <a:lnTo>
                  <a:pt x="0" y="284685"/>
                </a:lnTo>
                <a:lnTo>
                  <a:pt x="0" y="0"/>
                </a:lnTo>
                <a:close/>
              </a:path>
            </a:pathLst>
          </a:custGeom>
          <a:blipFill>
            <a:blip r:embed="rId10"/>
            <a:stretch>
              <a:fillRect l="-36111" t="-1330753" r="-43947" b="-1998030"/>
            </a:stretch>
          </a:blipFill>
        </p:spPr>
      </p:sp>
      <p:sp>
        <p:nvSpPr>
          <p:cNvPr name="TextBox 19" id="19"/>
          <p:cNvSpPr txBox="true"/>
          <p:nvPr/>
        </p:nvSpPr>
        <p:spPr>
          <a:xfrm rot="-5400000">
            <a:off x="4050783" y="2905748"/>
            <a:ext cx="9993937" cy="174328"/>
          </a:xfrm>
          <a:prstGeom prst="rect">
            <a:avLst/>
          </a:prstGeom>
        </p:spPr>
        <p:txBody>
          <a:bodyPr anchor="t" rtlCol="false" tIns="0" lIns="0" bIns="0" rIns="0">
            <a:spAutoFit/>
          </a:bodyPr>
          <a:lstStyle/>
          <a:p>
            <a:pPr algn="l">
              <a:lnSpc>
                <a:spcPts val="1316"/>
              </a:lnSpc>
            </a:pPr>
            <a:r>
              <a:rPr lang="en-US" sz="1303">
                <a:solidFill>
                  <a:srgbClr val="151037"/>
                </a:solidFill>
                <a:latin typeface="Poppins"/>
                <a:ea typeface="Poppins"/>
                <a:cs typeface="Poppins"/>
                <a:sym typeface="Poppins"/>
              </a:rPr>
              <a:t>SHARE OF GLOBAL SALES </a:t>
            </a:r>
          </a:p>
        </p:txBody>
      </p:sp>
      <p:sp>
        <p:nvSpPr>
          <p:cNvPr name="Freeform 20" id="20"/>
          <p:cNvSpPr/>
          <p:nvPr/>
        </p:nvSpPr>
        <p:spPr>
          <a:xfrm flipH="false" flipV="false" rot="352984">
            <a:off x="6277391" y="560176"/>
            <a:ext cx="3004062" cy="3515391"/>
          </a:xfrm>
          <a:custGeom>
            <a:avLst/>
            <a:gdLst/>
            <a:ahLst/>
            <a:cxnLst/>
            <a:rect r="r" b="b" t="t" l="l"/>
            <a:pathLst>
              <a:path h="3515391" w="3004062">
                <a:moveTo>
                  <a:pt x="0" y="0"/>
                </a:moveTo>
                <a:lnTo>
                  <a:pt x="3004062" y="0"/>
                </a:lnTo>
                <a:lnTo>
                  <a:pt x="3004062" y="3515391"/>
                </a:lnTo>
                <a:lnTo>
                  <a:pt x="0" y="351539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1" id="21"/>
          <p:cNvSpPr txBox="true"/>
          <p:nvPr/>
        </p:nvSpPr>
        <p:spPr>
          <a:xfrm rot="0">
            <a:off x="12487424" y="7858119"/>
            <a:ext cx="4051724" cy="727710"/>
          </a:xfrm>
          <a:prstGeom prst="rect">
            <a:avLst/>
          </a:prstGeom>
        </p:spPr>
        <p:txBody>
          <a:bodyPr anchor="t" rtlCol="false" tIns="0" lIns="0" bIns="0" rIns="0">
            <a:spAutoFit/>
          </a:bodyPr>
          <a:lstStyle/>
          <a:p>
            <a:pPr algn="l">
              <a:lnSpc>
                <a:spcPts val="2940"/>
              </a:lnSpc>
            </a:pPr>
            <a:r>
              <a:rPr lang="en-US" sz="2100">
                <a:solidFill>
                  <a:srgbClr val="FFFFFF"/>
                </a:solidFill>
                <a:latin typeface="Montserrat"/>
                <a:ea typeface="Montserrat"/>
                <a:cs typeface="Montserrat"/>
                <a:sym typeface="Montserrat"/>
              </a:rPr>
              <a:t>AI capable of performing diverse, human-like tasks.</a:t>
            </a:r>
          </a:p>
        </p:txBody>
      </p:sp>
      <p:sp>
        <p:nvSpPr>
          <p:cNvPr name="TextBox 22" id="22"/>
          <p:cNvSpPr txBox="true"/>
          <p:nvPr/>
        </p:nvSpPr>
        <p:spPr>
          <a:xfrm rot="0">
            <a:off x="11410950" y="4539803"/>
            <a:ext cx="9993937" cy="204035"/>
          </a:xfrm>
          <a:prstGeom prst="rect">
            <a:avLst/>
          </a:prstGeom>
        </p:spPr>
        <p:txBody>
          <a:bodyPr anchor="t" rtlCol="false" tIns="0" lIns="0" bIns="0" rIns="0">
            <a:spAutoFit/>
          </a:bodyPr>
          <a:lstStyle/>
          <a:p>
            <a:pPr algn="l">
              <a:lnSpc>
                <a:spcPts val="1518"/>
              </a:lnSpc>
            </a:pPr>
            <a:r>
              <a:rPr lang="en-US" sz="1503">
                <a:solidFill>
                  <a:srgbClr val="151037"/>
                </a:solidFill>
                <a:latin typeface="Poppins"/>
                <a:ea typeface="Poppins"/>
                <a:cs typeface="Poppins"/>
                <a:sym typeface="Poppins"/>
              </a:rPr>
              <a:t>REGIONAL SHARE OF GLOBAL SALES </a:t>
            </a:r>
            <a:r>
              <a:rPr lang="en-US" sz="1503" b="true">
                <a:solidFill>
                  <a:srgbClr val="151037"/>
                </a:solidFill>
                <a:latin typeface="Poppins Bold"/>
                <a:ea typeface="Poppins Bold"/>
                <a:cs typeface="Poppins Bold"/>
                <a:sym typeface="Poppins Bold"/>
              </a:rPr>
              <a:t>2006–2016</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51037"/>
        </a:solidFill>
      </p:bgPr>
    </p:bg>
    <p:spTree>
      <p:nvGrpSpPr>
        <p:cNvPr id="1" name=""/>
        <p:cNvGrpSpPr/>
        <p:nvPr/>
      </p:nvGrpSpPr>
      <p:grpSpPr>
        <a:xfrm>
          <a:off x="0" y="0"/>
          <a:ext cx="0" cy="0"/>
          <a:chOff x="0" y="0"/>
          <a:chExt cx="0" cy="0"/>
        </a:xfrm>
      </p:grpSpPr>
      <p:sp>
        <p:nvSpPr>
          <p:cNvPr name="Freeform 2" id="2"/>
          <p:cNvSpPr/>
          <p:nvPr/>
        </p:nvSpPr>
        <p:spPr>
          <a:xfrm flipH="false" flipV="true" rot="-2329469">
            <a:off x="4463838" y="2638992"/>
            <a:ext cx="18821161" cy="8116626"/>
          </a:xfrm>
          <a:custGeom>
            <a:avLst/>
            <a:gdLst/>
            <a:ahLst/>
            <a:cxnLst/>
            <a:rect r="r" b="b" t="t" l="l"/>
            <a:pathLst>
              <a:path h="8116626" w="18821161">
                <a:moveTo>
                  <a:pt x="0" y="8116626"/>
                </a:moveTo>
                <a:lnTo>
                  <a:pt x="18821161" y="8116626"/>
                </a:lnTo>
                <a:lnTo>
                  <a:pt x="18821161" y="0"/>
                </a:lnTo>
                <a:lnTo>
                  <a:pt x="0" y="0"/>
                </a:lnTo>
                <a:lnTo>
                  <a:pt x="0" y="811662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true" rot="0">
            <a:off x="16356708" y="9258300"/>
            <a:ext cx="472226" cy="472226"/>
          </a:xfrm>
          <a:custGeom>
            <a:avLst/>
            <a:gdLst/>
            <a:ahLst/>
            <a:cxnLst/>
            <a:rect r="r" b="b" t="t" l="l"/>
            <a:pathLst>
              <a:path h="472226" w="472226">
                <a:moveTo>
                  <a:pt x="472226" y="472226"/>
                </a:moveTo>
                <a:lnTo>
                  <a:pt x="0" y="472226"/>
                </a:lnTo>
                <a:lnTo>
                  <a:pt x="0" y="0"/>
                </a:lnTo>
                <a:lnTo>
                  <a:pt x="472226" y="0"/>
                </a:lnTo>
                <a:lnTo>
                  <a:pt x="472226" y="472226"/>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2529930" y="3883178"/>
            <a:ext cx="6534288" cy="2407816"/>
            <a:chOff x="0" y="0"/>
            <a:chExt cx="1720965" cy="634157"/>
          </a:xfrm>
        </p:grpSpPr>
        <p:sp>
          <p:nvSpPr>
            <p:cNvPr name="Freeform 5" id="5"/>
            <p:cNvSpPr/>
            <p:nvPr/>
          </p:nvSpPr>
          <p:spPr>
            <a:xfrm flipH="false" flipV="false" rot="0">
              <a:off x="0" y="0"/>
              <a:ext cx="1720965" cy="634157"/>
            </a:xfrm>
            <a:custGeom>
              <a:avLst/>
              <a:gdLst/>
              <a:ahLst/>
              <a:cxnLst/>
              <a:rect r="r" b="b" t="t" l="l"/>
              <a:pathLst>
                <a:path h="634157" w="1720965">
                  <a:moveTo>
                    <a:pt x="0" y="0"/>
                  </a:moveTo>
                  <a:lnTo>
                    <a:pt x="1720965" y="0"/>
                  </a:lnTo>
                  <a:lnTo>
                    <a:pt x="1720965" y="634157"/>
                  </a:lnTo>
                  <a:lnTo>
                    <a:pt x="0" y="634157"/>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6" id="6"/>
            <p:cNvSpPr txBox="true"/>
            <p:nvPr/>
          </p:nvSpPr>
          <p:spPr>
            <a:xfrm>
              <a:off x="0" y="-66675"/>
              <a:ext cx="1720965" cy="700832"/>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7" id="7"/>
          <p:cNvGrpSpPr/>
          <p:nvPr/>
        </p:nvGrpSpPr>
        <p:grpSpPr>
          <a:xfrm rot="0">
            <a:off x="2529930" y="6805345"/>
            <a:ext cx="6534288" cy="2356682"/>
            <a:chOff x="0" y="0"/>
            <a:chExt cx="1720965" cy="620690"/>
          </a:xfrm>
        </p:grpSpPr>
        <p:sp>
          <p:nvSpPr>
            <p:cNvPr name="Freeform 8" id="8"/>
            <p:cNvSpPr/>
            <p:nvPr/>
          </p:nvSpPr>
          <p:spPr>
            <a:xfrm flipH="false" flipV="false" rot="0">
              <a:off x="0" y="0"/>
              <a:ext cx="1720965" cy="620690"/>
            </a:xfrm>
            <a:custGeom>
              <a:avLst/>
              <a:gdLst/>
              <a:ahLst/>
              <a:cxnLst/>
              <a:rect r="r" b="b" t="t" l="l"/>
              <a:pathLst>
                <a:path h="620690" w="1720965">
                  <a:moveTo>
                    <a:pt x="0" y="0"/>
                  </a:moveTo>
                  <a:lnTo>
                    <a:pt x="1720965" y="0"/>
                  </a:lnTo>
                  <a:lnTo>
                    <a:pt x="1720965" y="620690"/>
                  </a:lnTo>
                  <a:lnTo>
                    <a:pt x="0" y="620690"/>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9" id="9"/>
            <p:cNvSpPr txBox="true"/>
            <p:nvPr/>
          </p:nvSpPr>
          <p:spPr>
            <a:xfrm>
              <a:off x="0" y="-66675"/>
              <a:ext cx="1720965" cy="687365"/>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TextBox 10" id="10"/>
          <p:cNvSpPr txBox="true"/>
          <p:nvPr/>
        </p:nvSpPr>
        <p:spPr>
          <a:xfrm rot="0">
            <a:off x="2905872" y="7396305"/>
            <a:ext cx="4765572" cy="1457960"/>
          </a:xfrm>
          <a:prstGeom prst="rect">
            <a:avLst/>
          </a:prstGeom>
        </p:spPr>
        <p:txBody>
          <a:bodyPr anchor="t" rtlCol="false" tIns="0" lIns="0" bIns="0" rIns="0">
            <a:spAutoFit/>
          </a:bodyPr>
          <a:lstStyle/>
          <a:p>
            <a:pPr algn="l">
              <a:lnSpc>
                <a:spcPts val="2940"/>
              </a:lnSpc>
            </a:pPr>
            <a:r>
              <a:rPr lang="en-US" sz="2100">
                <a:solidFill>
                  <a:srgbClr val="FFFFFF"/>
                </a:solidFill>
                <a:latin typeface="Montserrat"/>
                <a:ea typeface="Montserrat"/>
                <a:cs typeface="Montserrat"/>
                <a:sym typeface="Montserrat"/>
              </a:rPr>
              <a:t>Therefore, 2017 marketing allocations should reflect a stronger European focus than previous years.</a:t>
            </a:r>
          </a:p>
        </p:txBody>
      </p:sp>
      <p:sp>
        <p:nvSpPr>
          <p:cNvPr name="Freeform 11" id="11"/>
          <p:cNvSpPr/>
          <p:nvPr/>
        </p:nvSpPr>
        <p:spPr>
          <a:xfrm flipH="false" flipV="false" rot="0">
            <a:off x="2649607" y="3532426"/>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6"/>
            <a:stretch>
              <a:fillRect l="0" t="0" r="0" b="0"/>
            </a:stretch>
          </a:blipFill>
          <a:ln cap="sq">
            <a:noFill/>
            <a:prstDash val="solid"/>
            <a:miter/>
          </a:ln>
        </p:spPr>
      </p:sp>
      <p:sp>
        <p:nvSpPr>
          <p:cNvPr name="Freeform 12" id="12"/>
          <p:cNvSpPr/>
          <p:nvPr/>
        </p:nvSpPr>
        <p:spPr>
          <a:xfrm flipH="false" flipV="false" rot="0">
            <a:off x="9755518" y="3532426"/>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6"/>
            <a:stretch>
              <a:fillRect l="0" t="0" r="0" b="0"/>
            </a:stretch>
          </a:blipFill>
          <a:ln cap="sq">
            <a:noFill/>
            <a:prstDash val="solid"/>
            <a:miter/>
          </a:ln>
        </p:spPr>
      </p:sp>
      <p:sp>
        <p:nvSpPr>
          <p:cNvPr name="Freeform 13" id="13"/>
          <p:cNvSpPr/>
          <p:nvPr/>
        </p:nvSpPr>
        <p:spPr>
          <a:xfrm flipH="false" flipV="false" rot="0">
            <a:off x="11228057" y="8471994"/>
            <a:ext cx="6140127" cy="887760"/>
          </a:xfrm>
          <a:custGeom>
            <a:avLst/>
            <a:gdLst/>
            <a:ahLst/>
            <a:cxnLst/>
            <a:rect r="r" b="b" t="t" l="l"/>
            <a:pathLst>
              <a:path h="887760" w="6140127">
                <a:moveTo>
                  <a:pt x="0" y="0"/>
                </a:moveTo>
                <a:lnTo>
                  <a:pt x="6140126" y="0"/>
                </a:lnTo>
                <a:lnTo>
                  <a:pt x="6140126" y="887760"/>
                </a:lnTo>
                <a:lnTo>
                  <a:pt x="0" y="887760"/>
                </a:lnTo>
                <a:lnTo>
                  <a:pt x="0" y="0"/>
                </a:lnTo>
                <a:close/>
              </a:path>
            </a:pathLst>
          </a:custGeom>
          <a:blipFill>
            <a:blip r:embed="rId7"/>
            <a:stretch>
              <a:fillRect l="0" t="0" r="0" b="0"/>
            </a:stretch>
          </a:blipFill>
        </p:spPr>
      </p:sp>
      <p:sp>
        <p:nvSpPr>
          <p:cNvPr name="Freeform 14" id="14"/>
          <p:cNvSpPr/>
          <p:nvPr/>
        </p:nvSpPr>
        <p:spPr>
          <a:xfrm flipH="false" flipV="false" rot="0">
            <a:off x="3605866" y="8718147"/>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7"/>
            <a:stretch>
              <a:fillRect l="0" t="0" r="0" b="0"/>
            </a:stretch>
          </a:blipFill>
        </p:spPr>
      </p:sp>
      <p:sp>
        <p:nvSpPr>
          <p:cNvPr name="Freeform 15" id="15"/>
          <p:cNvSpPr/>
          <p:nvPr/>
        </p:nvSpPr>
        <p:spPr>
          <a:xfrm flipH="false" flipV="false" rot="0">
            <a:off x="10270256" y="535429"/>
            <a:ext cx="6002231" cy="4231573"/>
          </a:xfrm>
          <a:custGeom>
            <a:avLst/>
            <a:gdLst/>
            <a:ahLst/>
            <a:cxnLst/>
            <a:rect r="r" b="b" t="t" l="l"/>
            <a:pathLst>
              <a:path h="4231573" w="6002231">
                <a:moveTo>
                  <a:pt x="0" y="0"/>
                </a:moveTo>
                <a:lnTo>
                  <a:pt x="6002231" y="0"/>
                </a:lnTo>
                <a:lnTo>
                  <a:pt x="6002231" y="4231573"/>
                </a:lnTo>
                <a:lnTo>
                  <a:pt x="0" y="4231573"/>
                </a:lnTo>
                <a:lnTo>
                  <a:pt x="0" y="0"/>
                </a:lnTo>
                <a:close/>
              </a:path>
            </a:pathLst>
          </a:custGeom>
          <a:blipFill>
            <a:blip r:embed="rId8"/>
            <a:stretch>
              <a:fillRect l="0" t="0" r="0" b="0"/>
            </a:stretch>
          </a:blipFill>
        </p:spPr>
      </p:sp>
      <p:sp>
        <p:nvSpPr>
          <p:cNvPr name="TextBox 16" id="16"/>
          <p:cNvSpPr txBox="true"/>
          <p:nvPr/>
        </p:nvSpPr>
        <p:spPr>
          <a:xfrm rot="0">
            <a:off x="2788646" y="4522028"/>
            <a:ext cx="6016856" cy="1457960"/>
          </a:xfrm>
          <a:prstGeom prst="rect">
            <a:avLst/>
          </a:prstGeom>
        </p:spPr>
        <p:txBody>
          <a:bodyPr anchor="t" rtlCol="false" tIns="0" lIns="0" bIns="0" rIns="0">
            <a:spAutoFit/>
          </a:bodyPr>
          <a:lstStyle/>
          <a:p>
            <a:pPr algn="l">
              <a:lnSpc>
                <a:spcPts val="2940"/>
              </a:lnSpc>
            </a:pPr>
            <a:r>
              <a:rPr lang="en-US" sz="2100">
                <a:solidFill>
                  <a:srgbClr val="FFFFFF"/>
                </a:solidFill>
                <a:latin typeface="Montserrat"/>
                <a:ea typeface="Montserrat"/>
                <a:cs typeface="Montserrat"/>
                <a:sym typeface="Montserrat"/>
              </a:rPr>
              <a:t>By 2016, Europe overtakes North America in share of global sales (EU ≈ 37.7% vs NA ≈ 31.9%), with Japan’s relative share also higher than prior years.</a:t>
            </a:r>
          </a:p>
        </p:txBody>
      </p:sp>
      <p:sp>
        <p:nvSpPr>
          <p:cNvPr name="TextBox 17" id="17"/>
          <p:cNvSpPr txBox="true"/>
          <p:nvPr/>
        </p:nvSpPr>
        <p:spPr>
          <a:xfrm rot="0">
            <a:off x="2797326" y="3975686"/>
            <a:ext cx="710009" cy="444500"/>
          </a:xfrm>
          <a:prstGeom prst="rect">
            <a:avLst/>
          </a:prstGeom>
        </p:spPr>
        <p:txBody>
          <a:bodyPr anchor="t" rtlCol="false" tIns="0" lIns="0" bIns="0" rIns="0">
            <a:spAutoFit/>
          </a:bodyPr>
          <a:lstStyle/>
          <a:p>
            <a:pPr algn="l">
              <a:lnSpc>
                <a:spcPts val="3500"/>
              </a:lnSpc>
            </a:pPr>
            <a:r>
              <a:rPr lang="en-US" sz="2500" b="true">
                <a:solidFill>
                  <a:srgbClr val="FFFFFF"/>
                </a:solidFill>
                <a:latin typeface="Poppins Bold"/>
                <a:ea typeface="Poppins Bold"/>
                <a:cs typeface="Poppins Bold"/>
                <a:sym typeface="Poppins Bold"/>
              </a:rPr>
              <a:t>2016</a:t>
            </a:r>
          </a:p>
        </p:txBody>
      </p:sp>
      <p:sp>
        <p:nvSpPr>
          <p:cNvPr name="TextBox 18" id="18"/>
          <p:cNvSpPr txBox="true"/>
          <p:nvPr/>
        </p:nvSpPr>
        <p:spPr>
          <a:xfrm rot="0">
            <a:off x="2905872" y="6920023"/>
            <a:ext cx="677664" cy="444500"/>
          </a:xfrm>
          <a:prstGeom prst="rect">
            <a:avLst/>
          </a:prstGeom>
        </p:spPr>
        <p:txBody>
          <a:bodyPr anchor="t" rtlCol="false" tIns="0" lIns="0" bIns="0" rIns="0">
            <a:spAutoFit/>
          </a:bodyPr>
          <a:lstStyle/>
          <a:p>
            <a:pPr algn="l">
              <a:lnSpc>
                <a:spcPts val="3500"/>
              </a:lnSpc>
            </a:pPr>
            <a:r>
              <a:rPr lang="en-US" sz="2500" b="true">
                <a:solidFill>
                  <a:srgbClr val="FFFFFF"/>
                </a:solidFill>
                <a:latin typeface="Poppins Bold"/>
                <a:ea typeface="Poppins Bold"/>
                <a:cs typeface="Poppins Bold"/>
                <a:sym typeface="Poppins Bold"/>
              </a:rPr>
              <a:t>2017</a:t>
            </a:r>
          </a:p>
        </p:txBody>
      </p:sp>
      <p:sp>
        <p:nvSpPr>
          <p:cNvPr name="TextBox 19" id="19"/>
          <p:cNvSpPr txBox="true"/>
          <p:nvPr/>
        </p:nvSpPr>
        <p:spPr>
          <a:xfrm rot="0">
            <a:off x="2465495" y="1066800"/>
            <a:ext cx="6598723" cy="2391603"/>
          </a:xfrm>
          <a:prstGeom prst="rect">
            <a:avLst/>
          </a:prstGeom>
        </p:spPr>
        <p:txBody>
          <a:bodyPr anchor="t" rtlCol="false" tIns="0" lIns="0" bIns="0" rIns="0">
            <a:spAutoFit/>
          </a:bodyPr>
          <a:lstStyle/>
          <a:p>
            <a:pPr algn="l">
              <a:lnSpc>
                <a:spcPts val="4747"/>
              </a:lnSpc>
            </a:pPr>
            <a:r>
              <a:rPr lang="en-US" sz="4700">
                <a:solidFill>
                  <a:srgbClr val="FFFFFF"/>
                </a:solidFill>
                <a:latin typeface="Poppins"/>
                <a:ea typeface="Poppins"/>
                <a:cs typeface="Poppins"/>
                <a:sym typeface="Poppins"/>
              </a:rPr>
              <a:t>MAIN INSIGHT</a:t>
            </a:r>
          </a:p>
          <a:p>
            <a:pPr algn="l">
              <a:lnSpc>
                <a:spcPts val="4747"/>
              </a:lnSpc>
            </a:pPr>
          </a:p>
          <a:p>
            <a:pPr algn="l">
              <a:lnSpc>
                <a:spcPts val="3030"/>
              </a:lnSpc>
            </a:pPr>
            <a:r>
              <a:rPr lang="en-US" sz="3000" b="true">
                <a:solidFill>
                  <a:srgbClr val="FF2CED"/>
                </a:solidFill>
                <a:latin typeface="Poppins Bold"/>
                <a:ea typeface="Poppins Bold"/>
                <a:cs typeface="Poppins Bold"/>
                <a:sym typeface="Poppins Bold"/>
              </a:rPr>
              <a:t>GameCo’s assumption that the regional mix is unchanged is not supported by the data.</a:t>
            </a:r>
          </a:p>
        </p:txBody>
      </p:sp>
      <p:sp>
        <p:nvSpPr>
          <p:cNvPr name="Freeform 20" id="20"/>
          <p:cNvSpPr/>
          <p:nvPr/>
        </p:nvSpPr>
        <p:spPr>
          <a:xfrm flipH="false" flipV="false" rot="0">
            <a:off x="9974934" y="5049627"/>
            <a:ext cx="6854000" cy="4112400"/>
          </a:xfrm>
          <a:custGeom>
            <a:avLst/>
            <a:gdLst/>
            <a:ahLst/>
            <a:cxnLst/>
            <a:rect r="r" b="b" t="t" l="l"/>
            <a:pathLst>
              <a:path h="4112400" w="6854000">
                <a:moveTo>
                  <a:pt x="0" y="0"/>
                </a:moveTo>
                <a:lnTo>
                  <a:pt x="6854000" y="0"/>
                </a:lnTo>
                <a:lnTo>
                  <a:pt x="6854000" y="4112400"/>
                </a:lnTo>
                <a:lnTo>
                  <a:pt x="0" y="4112400"/>
                </a:lnTo>
                <a:lnTo>
                  <a:pt x="0" y="0"/>
                </a:lnTo>
                <a:close/>
              </a:path>
            </a:pathLst>
          </a:custGeom>
          <a:blipFill>
            <a:blip r:embed="rId9"/>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51037"/>
        </a:solidFill>
      </p:bgPr>
    </p:bg>
    <p:spTree>
      <p:nvGrpSpPr>
        <p:cNvPr id="1" name=""/>
        <p:cNvGrpSpPr/>
        <p:nvPr/>
      </p:nvGrpSpPr>
      <p:grpSpPr>
        <a:xfrm>
          <a:off x="0" y="0"/>
          <a:ext cx="0" cy="0"/>
          <a:chOff x="0" y="0"/>
          <a:chExt cx="0" cy="0"/>
        </a:xfrm>
      </p:grpSpPr>
      <p:sp>
        <p:nvSpPr>
          <p:cNvPr name="Freeform 2" id="2"/>
          <p:cNvSpPr/>
          <p:nvPr/>
        </p:nvSpPr>
        <p:spPr>
          <a:xfrm flipH="false" flipV="true" rot="-2329469">
            <a:off x="4463838" y="2638992"/>
            <a:ext cx="18821161" cy="8116626"/>
          </a:xfrm>
          <a:custGeom>
            <a:avLst/>
            <a:gdLst/>
            <a:ahLst/>
            <a:cxnLst/>
            <a:rect r="r" b="b" t="t" l="l"/>
            <a:pathLst>
              <a:path h="8116626" w="18821161">
                <a:moveTo>
                  <a:pt x="0" y="8116626"/>
                </a:moveTo>
                <a:lnTo>
                  <a:pt x="18821161" y="8116626"/>
                </a:lnTo>
                <a:lnTo>
                  <a:pt x="18821161" y="0"/>
                </a:lnTo>
                <a:lnTo>
                  <a:pt x="0" y="0"/>
                </a:lnTo>
                <a:lnTo>
                  <a:pt x="0" y="811662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true" rot="-2329469">
            <a:off x="11775152" y="2638992"/>
            <a:ext cx="18821161" cy="8116626"/>
          </a:xfrm>
          <a:custGeom>
            <a:avLst/>
            <a:gdLst/>
            <a:ahLst/>
            <a:cxnLst/>
            <a:rect r="r" b="b" t="t" l="l"/>
            <a:pathLst>
              <a:path h="8116626" w="18821161">
                <a:moveTo>
                  <a:pt x="0" y="8116626"/>
                </a:moveTo>
                <a:lnTo>
                  <a:pt x="18821161" y="8116626"/>
                </a:lnTo>
                <a:lnTo>
                  <a:pt x="18821161" y="0"/>
                </a:lnTo>
                <a:lnTo>
                  <a:pt x="0" y="0"/>
                </a:lnTo>
                <a:lnTo>
                  <a:pt x="0" y="811662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4" id="4"/>
          <p:cNvGrpSpPr/>
          <p:nvPr/>
        </p:nvGrpSpPr>
        <p:grpSpPr>
          <a:xfrm rot="0">
            <a:off x="9841243" y="3883178"/>
            <a:ext cx="6534288" cy="2407816"/>
            <a:chOff x="0" y="0"/>
            <a:chExt cx="1720965" cy="634157"/>
          </a:xfrm>
        </p:grpSpPr>
        <p:sp>
          <p:nvSpPr>
            <p:cNvPr name="Freeform 5" id="5"/>
            <p:cNvSpPr/>
            <p:nvPr/>
          </p:nvSpPr>
          <p:spPr>
            <a:xfrm flipH="false" flipV="false" rot="0">
              <a:off x="0" y="0"/>
              <a:ext cx="1720965" cy="634157"/>
            </a:xfrm>
            <a:custGeom>
              <a:avLst/>
              <a:gdLst/>
              <a:ahLst/>
              <a:cxnLst/>
              <a:rect r="r" b="b" t="t" l="l"/>
              <a:pathLst>
                <a:path h="634157" w="1720965">
                  <a:moveTo>
                    <a:pt x="0" y="0"/>
                  </a:moveTo>
                  <a:lnTo>
                    <a:pt x="1720965" y="0"/>
                  </a:lnTo>
                  <a:lnTo>
                    <a:pt x="1720965" y="634157"/>
                  </a:lnTo>
                  <a:lnTo>
                    <a:pt x="0" y="634157"/>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6" id="6"/>
            <p:cNvSpPr txBox="true"/>
            <p:nvPr/>
          </p:nvSpPr>
          <p:spPr>
            <a:xfrm>
              <a:off x="0" y="-66675"/>
              <a:ext cx="1720965" cy="700832"/>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7" id="7"/>
          <p:cNvGrpSpPr/>
          <p:nvPr/>
        </p:nvGrpSpPr>
        <p:grpSpPr>
          <a:xfrm rot="0">
            <a:off x="9841243" y="6805345"/>
            <a:ext cx="6534288" cy="2356682"/>
            <a:chOff x="0" y="0"/>
            <a:chExt cx="1720965" cy="620690"/>
          </a:xfrm>
        </p:grpSpPr>
        <p:sp>
          <p:nvSpPr>
            <p:cNvPr name="Freeform 8" id="8"/>
            <p:cNvSpPr/>
            <p:nvPr/>
          </p:nvSpPr>
          <p:spPr>
            <a:xfrm flipH="false" flipV="false" rot="0">
              <a:off x="0" y="0"/>
              <a:ext cx="1720965" cy="620690"/>
            </a:xfrm>
            <a:custGeom>
              <a:avLst/>
              <a:gdLst/>
              <a:ahLst/>
              <a:cxnLst/>
              <a:rect r="r" b="b" t="t" l="l"/>
              <a:pathLst>
                <a:path h="620690" w="1720965">
                  <a:moveTo>
                    <a:pt x="0" y="0"/>
                  </a:moveTo>
                  <a:lnTo>
                    <a:pt x="1720965" y="0"/>
                  </a:lnTo>
                  <a:lnTo>
                    <a:pt x="1720965" y="620690"/>
                  </a:lnTo>
                  <a:lnTo>
                    <a:pt x="0" y="620690"/>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9" id="9"/>
            <p:cNvSpPr txBox="true"/>
            <p:nvPr/>
          </p:nvSpPr>
          <p:spPr>
            <a:xfrm>
              <a:off x="0" y="-66675"/>
              <a:ext cx="1720965" cy="687365"/>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10" id="10"/>
          <p:cNvSpPr/>
          <p:nvPr/>
        </p:nvSpPr>
        <p:spPr>
          <a:xfrm flipH="false" flipV="false" rot="0">
            <a:off x="9960921" y="3439298"/>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4"/>
            <a:stretch>
              <a:fillRect l="0" t="0" r="0" b="0"/>
            </a:stretch>
          </a:blipFill>
          <a:ln cap="sq">
            <a:noFill/>
            <a:prstDash val="solid"/>
            <a:miter/>
          </a:ln>
        </p:spPr>
      </p:sp>
      <p:sp>
        <p:nvSpPr>
          <p:cNvPr name="TextBox 11" id="11"/>
          <p:cNvSpPr txBox="true"/>
          <p:nvPr/>
        </p:nvSpPr>
        <p:spPr>
          <a:xfrm rot="0">
            <a:off x="10358675" y="4763770"/>
            <a:ext cx="6016856" cy="721360"/>
          </a:xfrm>
          <a:prstGeom prst="rect">
            <a:avLst/>
          </a:prstGeom>
        </p:spPr>
        <p:txBody>
          <a:bodyPr anchor="t" rtlCol="false" tIns="0" lIns="0" bIns="0" rIns="0">
            <a:spAutoFit/>
          </a:bodyPr>
          <a:lstStyle/>
          <a:p>
            <a:pPr algn="l">
              <a:lnSpc>
                <a:spcPts val="2940"/>
              </a:lnSpc>
            </a:pPr>
            <a:r>
              <a:rPr lang="en-US" sz="2100" b="true">
                <a:solidFill>
                  <a:srgbClr val="FFFFFF"/>
                </a:solidFill>
                <a:latin typeface="Montserrat Bold"/>
                <a:ea typeface="Montserrat Bold"/>
                <a:cs typeface="Montserrat Bold"/>
                <a:sym typeface="Montserrat Bold"/>
              </a:rPr>
              <a:t>Japan´s share has strengthened in 2016;</a:t>
            </a:r>
          </a:p>
          <a:p>
            <a:pPr algn="l">
              <a:lnSpc>
                <a:spcPts val="2940"/>
              </a:lnSpc>
            </a:pPr>
            <a:r>
              <a:rPr lang="en-US" sz="2100" b="true">
                <a:solidFill>
                  <a:srgbClr val="FFFFFF"/>
                </a:solidFill>
                <a:latin typeface="Montserrat Bold"/>
                <a:ea typeface="Montserrat Bold"/>
                <a:cs typeface="Montserrat Bold"/>
                <a:sym typeface="Montserrat Bold"/>
              </a:rPr>
              <a:t>Other remains ~10–12%.</a:t>
            </a:r>
          </a:p>
        </p:txBody>
      </p:sp>
      <p:grpSp>
        <p:nvGrpSpPr>
          <p:cNvPr name="Group 12" id="12"/>
          <p:cNvGrpSpPr/>
          <p:nvPr/>
        </p:nvGrpSpPr>
        <p:grpSpPr>
          <a:xfrm rot="0">
            <a:off x="2529930" y="3883178"/>
            <a:ext cx="6534288" cy="2407816"/>
            <a:chOff x="0" y="0"/>
            <a:chExt cx="1720965" cy="634157"/>
          </a:xfrm>
        </p:grpSpPr>
        <p:sp>
          <p:nvSpPr>
            <p:cNvPr name="Freeform 13" id="13"/>
            <p:cNvSpPr/>
            <p:nvPr/>
          </p:nvSpPr>
          <p:spPr>
            <a:xfrm flipH="false" flipV="false" rot="0">
              <a:off x="0" y="0"/>
              <a:ext cx="1720965" cy="634157"/>
            </a:xfrm>
            <a:custGeom>
              <a:avLst/>
              <a:gdLst/>
              <a:ahLst/>
              <a:cxnLst/>
              <a:rect r="r" b="b" t="t" l="l"/>
              <a:pathLst>
                <a:path h="634157" w="1720965">
                  <a:moveTo>
                    <a:pt x="0" y="0"/>
                  </a:moveTo>
                  <a:lnTo>
                    <a:pt x="1720965" y="0"/>
                  </a:lnTo>
                  <a:lnTo>
                    <a:pt x="1720965" y="634157"/>
                  </a:lnTo>
                  <a:lnTo>
                    <a:pt x="0" y="634157"/>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14" id="14"/>
            <p:cNvSpPr txBox="true"/>
            <p:nvPr/>
          </p:nvSpPr>
          <p:spPr>
            <a:xfrm>
              <a:off x="0" y="-66675"/>
              <a:ext cx="1720965" cy="700832"/>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15" id="15"/>
          <p:cNvGrpSpPr/>
          <p:nvPr/>
        </p:nvGrpSpPr>
        <p:grpSpPr>
          <a:xfrm rot="0">
            <a:off x="2529930" y="6805345"/>
            <a:ext cx="6534288" cy="2356682"/>
            <a:chOff x="0" y="0"/>
            <a:chExt cx="1720965" cy="620690"/>
          </a:xfrm>
        </p:grpSpPr>
        <p:sp>
          <p:nvSpPr>
            <p:cNvPr name="Freeform 16" id="16"/>
            <p:cNvSpPr/>
            <p:nvPr/>
          </p:nvSpPr>
          <p:spPr>
            <a:xfrm flipH="false" flipV="false" rot="0">
              <a:off x="0" y="0"/>
              <a:ext cx="1720965" cy="620690"/>
            </a:xfrm>
            <a:custGeom>
              <a:avLst/>
              <a:gdLst/>
              <a:ahLst/>
              <a:cxnLst/>
              <a:rect r="r" b="b" t="t" l="l"/>
              <a:pathLst>
                <a:path h="620690" w="1720965">
                  <a:moveTo>
                    <a:pt x="0" y="0"/>
                  </a:moveTo>
                  <a:lnTo>
                    <a:pt x="1720965" y="0"/>
                  </a:lnTo>
                  <a:lnTo>
                    <a:pt x="1720965" y="620690"/>
                  </a:lnTo>
                  <a:lnTo>
                    <a:pt x="0" y="620690"/>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17" id="17"/>
            <p:cNvSpPr txBox="true"/>
            <p:nvPr/>
          </p:nvSpPr>
          <p:spPr>
            <a:xfrm>
              <a:off x="0" y="-66675"/>
              <a:ext cx="1720965" cy="687365"/>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TextBox 18" id="18"/>
          <p:cNvSpPr txBox="true"/>
          <p:nvPr/>
        </p:nvSpPr>
        <p:spPr>
          <a:xfrm rot="0">
            <a:off x="3487906" y="7639521"/>
            <a:ext cx="4765572" cy="1089660"/>
          </a:xfrm>
          <a:prstGeom prst="rect">
            <a:avLst/>
          </a:prstGeom>
        </p:spPr>
        <p:txBody>
          <a:bodyPr anchor="t" rtlCol="false" tIns="0" lIns="0" bIns="0" rIns="0">
            <a:spAutoFit/>
          </a:bodyPr>
          <a:lstStyle/>
          <a:p>
            <a:pPr algn="l">
              <a:lnSpc>
                <a:spcPts val="2940"/>
              </a:lnSpc>
            </a:pPr>
            <a:r>
              <a:rPr lang="en-US" sz="2100" b="true">
                <a:solidFill>
                  <a:srgbClr val="FFFFFF"/>
                </a:solidFill>
                <a:latin typeface="Montserrat Bold"/>
                <a:ea typeface="Montserrat Bold"/>
                <a:cs typeface="Montserrat Bold"/>
                <a:sym typeface="Montserrat Bold"/>
              </a:rPr>
              <a:t>EU now slightly leads North America in share of global sales.</a:t>
            </a:r>
          </a:p>
          <a:p>
            <a:pPr algn="l">
              <a:lnSpc>
                <a:spcPts val="2940"/>
              </a:lnSpc>
            </a:pPr>
          </a:p>
        </p:txBody>
      </p:sp>
      <p:sp>
        <p:nvSpPr>
          <p:cNvPr name="Freeform 19" id="19"/>
          <p:cNvSpPr/>
          <p:nvPr/>
        </p:nvSpPr>
        <p:spPr>
          <a:xfrm flipH="false" flipV="false" rot="0">
            <a:off x="2905872" y="3439298"/>
            <a:ext cx="6140127" cy="887760"/>
          </a:xfrm>
          <a:custGeom>
            <a:avLst/>
            <a:gdLst/>
            <a:ahLst/>
            <a:cxnLst/>
            <a:rect r="r" b="b" t="t" l="l"/>
            <a:pathLst>
              <a:path h="887760" w="6140127">
                <a:moveTo>
                  <a:pt x="0" y="0"/>
                </a:moveTo>
                <a:lnTo>
                  <a:pt x="6140126" y="0"/>
                </a:lnTo>
                <a:lnTo>
                  <a:pt x="6140126" y="887760"/>
                </a:lnTo>
                <a:lnTo>
                  <a:pt x="0" y="887760"/>
                </a:lnTo>
                <a:lnTo>
                  <a:pt x="0" y="0"/>
                </a:lnTo>
                <a:close/>
              </a:path>
            </a:pathLst>
          </a:custGeom>
          <a:blipFill>
            <a:blip r:embed="rId4"/>
            <a:stretch>
              <a:fillRect l="0" t="0" r="0" b="0"/>
            </a:stretch>
          </a:blipFill>
          <a:ln cap="sq">
            <a:noFill/>
            <a:prstDash val="solid"/>
            <a:miter/>
          </a:ln>
        </p:spPr>
      </p:sp>
      <p:sp>
        <p:nvSpPr>
          <p:cNvPr name="Freeform 20" id="20"/>
          <p:cNvSpPr/>
          <p:nvPr/>
        </p:nvSpPr>
        <p:spPr>
          <a:xfrm flipH="true" flipV="true" rot="0">
            <a:off x="2669759" y="3992653"/>
            <a:ext cx="472226" cy="472226"/>
          </a:xfrm>
          <a:custGeom>
            <a:avLst/>
            <a:gdLst/>
            <a:ahLst/>
            <a:cxnLst/>
            <a:rect r="r" b="b" t="t" l="l"/>
            <a:pathLst>
              <a:path h="472226" w="472226">
                <a:moveTo>
                  <a:pt x="472225" y="472225"/>
                </a:moveTo>
                <a:lnTo>
                  <a:pt x="0" y="472225"/>
                </a:lnTo>
                <a:lnTo>
                  <a:pt x="0" y="0"/>
                </a:lnTo>
                <a:lnTo>
                  <a:pt x="472225" y="0"/>
                </a:lnTo>
                <a:lnTo>
                  <a:pt x="472225" y="472225"/>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0083791" y="8694255"/>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7"/>
            <a:stretch>
              <a:fillRect l="0" t="0" r="0" b="0"/>
            </a:stretch>
          </a:blipFill>
        </p:spPr>
      </p:sp>
      <p:sp>
        <p:nvSpPr>
          <p:cNvPr name="Freeform 22" id="22"/>
          <p:cNvSpPr/>
          <p:nvPr/>
        </p:nvSpPr>
        <p:spPr>
          <a:xfrm flipH="false" flipV="false" rot="0">
            <a:off x="3605866" y="8718147"/>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7"/>
            <a:stretch>
              <a:fillRect l="0" t="0" r="0" b="0"/>
            </a:stretch>
          </a:blipFill>
        </p:spPr>
      </p:sp>
      <p:sp>
        <p:nvSpPr>
          <p:cNvPr name="Freeform 23" id="23"/>
          <p:cNvSpPr/>
          <p:nvPr/>
        </p:nvSpPr>
        <p:spPr>
          <a:xfrm flipH="false" flipV="false" rot="0">
            <a:off x="12046732" y="818622"/>
            <a:ext cx="5177124" cy="3649873"/>
          </a:xfrm>
          <a:custGeom>
            <a:avLst/>
            <a:gdLst/>
            <a:ahLst/>
            <a:cxnLst/>
            <a:rect r="r" b="b" t="t" l="l"/>
            <a:pathLst>
              <a:path h="3649873" w="5177124">
                <a:moveTo>
                  <a:pt x="0" y="0"/>
                </a:moveTo>
                <a:lnTo>
                  <a:pt x="5177125" y="0"/>
                </a:lnTo>
                <a:lnTo>
                  <a:pt x="5177125" y="3649873"/>
                </a:lnTo>
                <a:lnTo>
                  <a:pt x="0" y="3649873"/>
                </a:lnTo>
                <a:lnTo>
                  <a:pt x="0" y="0"/>
                </a:lnTo>
                <a:close/>
              </a:path>
            </a:pathLst>
          </a:custGeom>
          <a:blipFill>
            <a:blip r:embed="rId8"/>
            <a:stretch>
              <a:fillRect l="0" t="0" r="0" b="0"/>
            </a:stretch>
          </a:blipFill>
        </p:spPr>
      </p:sp>
      <p:sp>
        <p:nvSpPr>
          <p:cNvPr name="Freeform 24" id="24"/>
          <p:cNvSpPr/>
          <p:nvPr/>
        </p:nvSpPr>
        <p:spPr>
          <a:xfrm flipH="true" flipV="true" rot="0">
            <a:off x="10022556" y="6929170"/>
            <a:ext cx="472226" cy="472226"/>
          </a:xfrm>
          <a:custGeom>
            <a:avLst/>
            <a:gdLst/>
            <a:ahLst/>
            <a:cxnLst/>
            <a:rect r="r" b="b" t="t" l="l"/>
            <a:pathLst>
              <a:path h="472226" w="472226">
                <a:moveTo>
                  <a:pt x="472226" y="472226"/>
                </a:moveTo>
                <a:lnTo>
                  <a:pt x="0" y="472226"/>
                </a:lnTo>
                <a:lnTo>
                  <a:pt x="0" y="0"/>
                </a:lnTo>
                <a:lnTo>
                  <a:pt x="472226" y="0"/>
                </a:lnTo>
                <a:lnTo>
                  <a:pt x="472226" y="472226"/>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5" id="25"/>
          <p:cNvSpPr/>
          <p:nvPr/>
        </p:nvSpPr>
        <p:spPr>
          <a:xfrm flipH="false" flipV="false" rot="0">
            <a:off x="1028700" y="606522"/>
            <a:ext cx="3122684" cy="4583756"/>
          </a:xfrm>
          <a:custGeom>
            <a:avLst/>
            <a:gdLst/>
            <a:ahLst/>
            <a:cxnLst/>
            <a:rect r="r" b="b" t="t" l="l"/>
            <a:pathLst>
              <a:path h="4583756" w="3122684">
                <a:moveTo>
                  <a:pt x="0" y="0"/>
                </a:moveTo>
                <a:lnTo>
                  <a:pt x="3122684" y="0"/>
                </a:lnTo>
                <a:lnTo>
                  <a:pt x="3122684" y="4583756"/>
                </a:lnTo>
                <a:lnTo>
                  <a:pt x="0" y="4583756"/>
                </a:lnTo>
                <a:lnTo>
                  <a:pt x="0" y="0"/>
                </a:lnTo>
                <a:close/>
              </a:path>
            </a:pathLst>
          </a:custGeom>
          <a:blipFill>
            <a:blip r:embed="rId11"/>
            <a:stretch>
              <a:fillRect l="0" t="0" r="0" b="0"/>
            </a:stretch>
          </a:blipFill>
        </p:spPr>
      </p:sp>
      <p:sp>
        <p:nvSpPr>
          <p:cNvPr name="TextBox 26" id="26"/>
          <p:cNvSpPr txBox="true"/>
          <p:nvPr/>
        </p:nvSpPr>
        <p:spPr>
          <a:xfrm rot="0">
            <a:off x="10648199" y="7639521"/>
            <a:ext cx="4765572" cy="721360"/>
          </a:xfrm>
          <a:prstGeom prst="rect">
            <a:avLst/>
          </a:prstGeom>
        </p:spPr>
        <p:txBody>
          <a:bodyPr anchor="t" rtlCol="false" tIns="0" lIns="0" bIns="0" rIns="0">
            <a:spAutoFit/>
          </a:bodyPr>
          <a:lstStyle/>
          <a:p>
            <a:pPr algn="l">
              <a:lnSpc>
                <a:spcPts val="2940"/>
              </a:lnSpc>
            </a:pPr>
            <a:r>
              <a:rPr lang="en-US" sz="2100" b="true">
                <a:solidFill>
                  <a:srgbClr val="FF2CED"/>
                </a:solidFill>
                <a:latin typeface="Montserrat Bold"/>
                <a:ea typeface="Montserrat Bold"/>
                <a:cs typeface="Montserrat Bold"/>
                <a:sym typeface="Montserrat Bold"/>
              </a:rPr>
              <a:t>Budgets should be responsive to these shifts to maximize ROI</a:t>
            </a:r>
          </a:p>
        </p:txBody>
      </p:sp>
      <p:sp>
        <p:nvSpPr>
          <p:cNvPr name="TextBox 27" id="27"/>
          <p:cNvSpPr txBox="true"/>
          <p:nvPr/>
        </p:nvSpPr>
        <p:spPr>
          <a:xfrm rot="0">
            <a:off x="3399166" y="4724130"/>
            <a:ext cx="6016856" cy="1089660"/>
          </a:xfrm>
          <a:prstGeom prst="rect">
            <a:avLst/>
          </a:prstGeom>
        </p:spPr>
        <p:txBody>
          <a:bodyPr anchor="t" rtlCol="false" tIns="0" lIns="0" bIns="0" rIns="0">
            <a:spAutoFit/>
          </a:bodyPr>
          <a:lstStyle/>
          <a:p>
            <a:pPr algn="l">
              <a:lnSpc>
                <a:spcPts val="2940"/>
              </a:lnSpc>
            </a:pPr>
            <a:r>
              <a:rPr lang="en-US" sz="2100" b="true">
                <a:solidFill>
                  <a:srgbClr val="FFFFFF"/>
                </a:solidFill>
                <a:latin typeface="Montserrat Bold"/>
                <a:ea typeface="Montserrat Bold"/>
                <a:cs typeface="Montserrat Bold"/>
                <a:sym typeface="Montserrat Bold"/>
              </a:rPr>
              <a:t>Regional shares shift over time; </a:t>
            </a:r>
          </a:p>
          <a:p>
            <a:pPr algn="l">
              <a:lnSpc>
                <a:spcPts val="2940"/>
              </a:lnSpc>
            </a:pPr>
            <a:r>
              <a:rPr lang="en-US" sz="2100" b="true">
                <a:solidFill>
                  <a:srgbClr val="FFFFFF"/>
                </a:solidFill>
                <a:latin typeface="Montserrat Bold"/>
                <a:ea typeface="Montserrat Bold"/>
                <a:cs typeface="Montserrat Bold"/>
                <a:sym typeface="Montserrat Bold"/>
              </a:rPr>
              <a:t>they are not static.</a:t>
            </a:r>
          </a:p>
          <a:p>
            <a:pPr algn="l">
              <a:lnSpc>
                <a:spcPts val="2940"/>
              </a:lnSpc>
            </a:pPr>
          </a:p>
        </p:txBody>
      </p:sp>
      <p:sp>
        <p:nvSpPr>
          <p:cNvPr name="TextBox 28" id="28"/>
          <p:cNvSpPr txBox="true"/>
          <p:nvPr/>
        </p:nvSpPr>
        <p:spPr>
          <a:xfrm rot="0">
            <a:off x="4467014" y="2035883"/>
            <a:ext cx="8344670" cy="1060515"/>
          </a:xfrm>
          <a:prstGeom prst="rect">
            <a:avLst/>
          </a:prstGeom>
        </p:spPr>
        <p:txBody>
          <a:bodyPr anchor="t" rtlCol="false" tIns="0" lIns="0" bIns="0" rIns="0">
            <a:spAutoFit/>
          </a:bodyPr>
          <a:lstStyle/>
          <a:p>
            <a:pPr algn="l">
              <a:lnSpc>
                <a:spcPts val="4747"/>
              </a:lnSpc>
            </a:pPr>
            <a:r>
              <a:rPr lang="en-US" sz="4700">
                <a:solidFill>
                  <a:srgbClr val="FFFFFF"/>
                </a:solidFill>
                <a:latin typeface="Poppins"/>
                <a:ea typeface="Poppins"/>
                <a:cs typeface="Poppins"/>
                <a:sym typeface="Poppins"/>
              </a:rPr>
              <a:t>REVISED UNDERSTANDING</a:t>
            </a:r>
          </a:p>
          <a:p>
            <a:pPr algn="l">
              <a:lnSpc>
                <a:spcPts val="3232"/>
              </a:lnSpc>
            </a:pPr>
            <a:r>
              <a:rPr lang="en-US" sz="3200" b="true">
                <a:solidFill>
                  <a:srgbClr val="FF2CED"/>
                </a:solidFill>
                <a:latin typeface="Poppins Bold"/>
                <a:ea typeface="Poppins Bold"/>
                <a:cs typeface="Poppins Bold"/>
                <a:sym typeface="Poppins Bold"/>
              </a:rPr>
              <a:t>AS OF 2016</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51037"/>
        </a:solidFill>
      </p:bgPr>
    </p:bg>
    <p:spTree>
      <p:nvGrpSpPr>
        <p:cNvPr id="1" name=""/>
        <p:cNvGrpSpPr/>
        <p:nvPr/>
      </p:nvGrpSpPr>
      <p:grpSpPr>
        <a:xfrm>
          <a:off x="0" y="0"/>
          <a:ext cx="0" cy="0"/>
          <a:chOff x="0" y="0"/>
          <a:chExt cx="0" cy="0"/>
        </a:xfrm>
      </p:grpSpPr>
      <p:sp>
        <p:nvSpPr>
          <p:cNvPr name="Freeform 2" id="2"/>
          <p:cNvSpPr/>
          <p:nvPr/>
        </p:nvSpPr>
        <p:spPr>
          <a:xfrm flipH="false" flipV="true" rot="-2329469">
            <a:off x="4463838" y="2638992"/>
            <a:ext cx="18821161" cy="8116626"/>
          </a:xfrm>
          <a:custGeom>
            <a:avLst/>
            <a:gdLst/>
            <a:ahLst/>
            <a:cxnLst/>
            <a:rect r="r" b="b" t="t" l="l"/>
            <a:pathLst>
              <a:path h="8116626" w="18821161">
                <a:moveTo>
                  <a:pt x="0" y="8116626"/>
                </a:moveTo>
                <a:lnTo>
                  <a:pt x="18821161" y="8116626"/>
                </a:lnTo>
                <a:lnTo>
                  <a:pt x="18821161" y="0"/>
                </a:lnTo>
                <a:lnTo>
                  <a:pt x="0" y="0"/>
                </a:lnTo>
                <a:lnTo>
                  <a:pt x="0" y="811662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true" rot="-2329469">
            <a:off x="11775152" y="2638992"/>
            <a:ext cx="18821161" cy="8116626"/>
          </a:xfrm>
          <a:custGeom>
            <a:avLst/>
            <a:gdLst/>
            <a:ahLst/>
            <a:cxnLst/>
            <a:rect r="r" b="b" t="t" l="l"/>
            <a:pathLst>
              <a:path h="8116626" w="18821161">
                <a:moveTo>
                  <a:pt x="0" y="8116626"/>
                </a:moveTo>
                <a:lnTo>
                  <a:pt x="18821161" y="8116626"/>
                </a:lnTo>
                <a:lnTo>
                  <a:pt x="18821161" y="0"/>
                </a:lnTo>
                <a:lnTo>
                  <a:pt x="0" y="0"/>
                </a:lnTo>
                <a:lnTo>
                  <a:pt x="0" y="811662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4" id="4"/>
          <p:cNvGrpSpPr/>
          <p:nvPr/>
        </p:nvGrpSpPr>
        <p:grpSpPr>
          <a:xfrm rot="0">
            <a:off x="9841243" y="3883178"/>
            <a:ext cx="6534288" cy="2407816"/>
            <a:chOff x="0" y="0"/>
            <a:chExt cx="1720965" cy="634157"/>
          </a:xfrm>
        </p:grpSpPr>
        <p:sp>
          <p:nvSpPr>
            <p:cNvPr name="Freeform 5" id="5"/>
            <p:cNvSpPr/>
            <p:nvPr/>
          </p:nvSpPr>
          <p:spPr>
            <a:xfrm flipH="false" flipV="false" rot="0">
              <a:off x="0" y="0"/>
              <a:ext cx="1720965" cy="634157"/>
            </a:xfrm>
            <a:custGeom>
              <a:avLst/>
              <a:gdLst/>
              <a:ahLst/>
              <a:cxnLst/>
              <a:rect r="r" b="b" t="t" l="l"/>
              <a:pathLst>
                <a:path h="634157" w="1720965">
                  <a:moveTo>
                    <a:pt x="0" y="0"/>
                  </a:moveTo>
                  <a:lnTo>
                    <a:pt x="1720965" y="0"/>
                  </a:lnTo>
                  <a:lnTo>
                    <a:pt x="1720965" y="634157"/>
                  </a:lnTo>
                  <a:lnTo>
                    <a:pt x="0" y="634157"/>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6" id="6"/>
            <p:cNvSpPr txBox="true"/>
            <p:nvPr/>
          </p:nvSpPr>
          <p:spPr>
            <a:xfrm>
              <a:off x="0" y="-66675"/>
              <a:ext cx="1720965" cy="700832"/>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7" id="7"/>
          <p:cNvGrpSpPr/>
          <p:nvPr/>
        </p:nvGrpSpPr>
        <p:grpSpPr>
          <a:xfrm rot="0">
            <a:off x="9841243" y="6805345"/>
            <a:ext cx="6534288" cy="2356682"/>
            <a:chOff x="0" y="0"/>
            <a:chExt cx="1720965" cy="620690"/>
          </a:xfrm>
        </p:grpSpPr>
        <p:sp>
          <p:nvSpPr>
            <p:cNvPr name="Freeform 8" id="8"/>
            <p:cNvSpPr/>
            <p:nvPr/>
          </p:nvSpPr>
          <p:spPr>
            <a:xfrm flipH="false" flipV="false" rot="0">
              <a:off x="0" y="0"/>
              <a:ext cx="1720965" cy="620690"/>
            </a:xfrm>
            <a:custGeom>
              <a:avLst/>
              <a:gdLst/>
              <a:ahLst/>
              <a:cxnLst/>
              <a:rect r="r" b="b" t="t" l="l"/>
              <a:pathLst>
                <a:path h="620690" w="1720965">
                  <a:moveTo>
                    <a:pt x="0" y="0"/>
                  </a:moveTo>
                  <a:lnTo>
                    <a:pt x="1720965" y="0"/>
                  </a:lnTo>
                  <a:lnTo>
                    <a:pt x="1720965" y="620690"/>
                  </a:lnTo>
                  <a:lnTo>
                    <a:pt x="0" y="620690"/>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9" id="9"/>
            <p:cNvSpPr txBox="true"/>
            <p:nvPr/>
          </p:nvSpPr>
          <p:spPr>
            <a:xfrm>
              <a:off x="0" y="-66675"/>
              <a:ext cx="1720965" cy="687365"/>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10" id="10"/>
          <p:cNvSpPr/>
          <p:nvPr/>
        </p:nvSpPr>
        <p:spPr>
          <a:xfrm flipH="false" flipV="false" rot="0">
            <a:off x="9960921" y="3439298"/>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4"/>
            <a:stretch>
              <a:fillRect l="0" t="0" r="0" b="0"/>
            </a:stretch>
          </a:blipFill>
          <a:ln cap="sq">
            <a:noFill/>
            <a:prstDash val="solid"/>
            <a:miter/>
          </a:ln>
        </p:spPr>
      </p:sp>
      <p:sp>
        <p:nvSpPr>
          <p:cNvPr name="TextBox 11" id="11"/>
          <p:cNvSpPr txBox="true"/>
          <p:nvPr/>
        </p:nvSpPr>
        <p:spPr>
          <a:xfrm rot="0">
            <a:off x="10527117" y="4763770"/>
            <a:ext cx="6016856" cy="721360"/>
          </a:xfrm>
          <a:prstGeom prst="rect">
            <a:avLst/>
          </a:prstGeom>
        </p:spPr>
        <p:txBody>
          <a:bodyPr anchor="t" rtlCol="false" tIns="0" lIns="0" bIns="0" rIns="0">
            <a:spAutoFit/>
          </a:bodyPr>
          <a:lstStyle/>
          <a:p>
            <a:pPr algn="l">
              <a:lnSpc>
                <a:spcPts val="2940"/>
              </a:lnSpc>
            </a:pPr>
            <a:r>
              <a:rPr lang="en-US" sz="2100" b="true">
                <a:solidFill>
                  <a:srgbClr val="FFFFFF"/>
                </a:solidFill>
                <a:latin typeface="Montserrat Bold"/>
                <a:ea typeface="Montserrat Bold"/>
                <a:cs typeface="Montserrat Bold"/>
                <a:sym typeface="Montserrat Bold"/>
              </a:rPr>
              <a:t>Keep Other steady; test localized campaigns where cost‑effective</a:t>
            </a:r>
          </a:p>
        </p:txBody>
      </p:sp>
      <p:grpSp>
        <p:nvGrpSpPr>
          <p:cNvPr name="Group 12" id="12"/>
          <p:cNvGrpSpPr/>
          <p:nvPr/>
        </p:nvGrpSpPr>
        <p:grpSpPr>
          <a:xfrm rot="0">
            <a:off x="2529930" y="3883178"/>
            <a:ext cx="6534288" cy="2407816"/>
            <a:chOff x="0" y="0"/>
            <a:chExt cx="1720965" cy="634157"/>
          </a:xfrm>
        </p:grpSpPr>
        <p:sp>
          <p:nvSpPr>
            <p:cNvPr name="Freeform 13" id="13"/>
            <p:cNvSpPr/>
            <p:nvPr/>
          </p:nvSpPr>
          <p:spPr>
            <a:xfrm flipH="false" flipV="false" rot="0">
              <a:off x="0" y="0"/>
              <a:ext cx="1720965" cy="634157"/>
            </a:xfrm>
            <a:custGeom>
              <a:avLst/>
              <a:gdLst/>
              <a:ahLst/>
              <a:cxnLst/>
              <a:rect r="r" b="b" t="t" l="l"/>
              <a:pathLst>
                <a:path h="634157" w="1720965">
                  <a:moveTo>
                    <a:pt x="0" y="0"/>
                  </a:moveTo>
                  <a:lnTo>
                    <a:pt x="1720965" y="0"/>
                  </a:lnTo>
                  <a:lnTo>
                    <a:pt x="1720965" y="634157"/>
                  </a:lnTo>
                  <a:lnTo>
                    <a:pt x="0" y="634157"/>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14" id="14"/>
            <p:cNvSpPr txBox="true"/>
            <p:nvPr/>
          </p:nvSpPr>
          <p:spPr>
            <a:xfrm>
              <a:off x="0" y="-66675"/>
              <a:ext cx="1720965" cy="700832"/>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15" id="15"/>
          <p:cNvGrpSpPr/>
          <p:nvPr/>
        </p:nvGrpSpPr>
        <p:grpSpPr>
          <a:xfrm rot="0">
            <a:off x="2529930" y="6805345"/>
            <a:ext cx="6534288" cy="2356682"/>
            <a:chOff x="0" y="0"/>
            <a:chExt cx="1720965" cy="620690"/>
          </a:xfrm>
        </p:grpSpPr>
        <p:sp>
          <p:nvSpPr>
            <p:cNvPr name="Freeform 16" id="16"/>
            <p:cNvSpPr/>
            <p:nvPr/>
          </p:nvSpPr>
          <p:spPr>
            <a:xfrm flipH="false" flipV="false" rot="0">
              <a:off x="0" y="0"/>
              <a:ext cx="1720965" cy="620690"/>
            </a:xfrm>
            <a:custGeom>
              <a:avLst/>
              <a:gdLst/>
              <a:ahLst/>
              <a:cxnLst/>
              <a:rect r="r" b="b" t="t" l="l"/>
              <a:pathLst>
                <a:path h="620690" w="1720965">
                  <a:moveTo>
                    <a:pt x="0" y="0"/>
                  </a:moveTo>
                  <a:lnTo>
                    <a:pt x="1720965" y="0"/>
                  </a:lnTo>
                  <a:lnTo>
                    <a:pt x="1720965" y="620690"/>
                  </a:lnTo>
                  <a:lnTo>
                    <a:pt x="0" y="620690"/>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17" id="17"/>
            <p:cNvSpPr txBox="true"/>
            <p:nvPr/>
          </p:nvSpPr>
          <p:spPr>
            <a:xfrm>
              <a:off x="0" y="-66675"/>
              <a:ext cx="1720965" cy="687365"/>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TextBox 18" id="18"/>
          <p:cNvSpPr txBox="true"/>
          <p:nvPr/>
        </p:nvSpPr>
        <p:spPr>
          <a:xfrm rot="0">
            <a:off x="3254787" y="7419806"/>
            <a:ext cx="5360499" cy="1089660"/>
          </a:xfrm>
          <a:prstGeom prst="rect">
            <a:avLst/>
          </a:prstGeom>
        </p:spPr>
        <p:txBody>
          <a:bodyPr anchor="t" rtlCol="false" tIns="0" lIns="0" bIns="0" rIns="0">
            <a:spAutoFit/>
          </a:bodyPr>
          <a:lstStyle/>
          <a:p>
            <a:pPr algn="l">
              <a:lnSpc>
                <a:spcPts val="2940"/>
              </a:lnSpc>
            </a:pPr>
            <a:r>
              <a:rPr lang="en-US" sz="2100" b="true">
                <a:solidFill>
                  <a:srgbClr val="FFFFFF"/>
                </a:solidFill>
                <a:latin typeface="Montserrat Bold"/>
                <a:ea typeface="Montserrat Bold"/>
                <a:cs typeface="Montserrat Bold"/>
                <a:sym typeface="Montserrat Bold"/>
              </a:rPr>
              <a:t>Maintain a targeted Japan program (platform/genre‑specific) given 2016 uptick</a:t>
            </a:r>
          </a:p>
        </p:txBody>
      </p:sp>
      <p:sp>
        <p:nvSpPr>
          <p:cNvPr name="Freeform 19" id="19"/>
          <p:cNvSpPr/>
          <p:nvPr/>
        </p:nvSpPr>
        <p:spPr>
          <a:xfrm flipH="false" flipV="false" rot="0">
            <a:off x="2905872" y="3439298"/>
            <a:ext cx="6140127" cy="887760"/>
          </a:xfrm>
          <a:custGeom>
            <a:avLst/>
            <a:gdLst/>
            <a:ahLst/>
            <a:cxnLst/>
            <a:rect r="r" b="b" t="t" l="l"/>
            <a:pathLst>
              <a:path h="887760" w="6140127">
                <a:moveTo>
                  <a:pt x="0" y="0"/>
                </a:moveTo>
                <a:lnTo>
                  <a:pt x="6140126" y="0"/>
                </a:lnTo>
                <a:lnTo>
                  <a:pt x="6140126" y="887760"/>
                </a:lnTo>
                <a:lnTo>
                  <a:pt x="0" y="887760"/>
                </a:lnTo>
                <a:lnTo>
                  <a:pt x="0" y="0"/>
                </a:lnTo>
                <a:close/>
              </a:path>
            </a:pathLst>
          </a:custGeom>
          <a:blipFill>
            <a:blip r:embed="rId4"/>
            <a:stretch>
              <a:fillRect l="0" t="0" r="0" b="0"/>
            </a:stretch>
          </a:blipFill>
          <a:ln cap="sq">
            <a:noFill/>
            <a:prstDash val="solid"/>
            <a:miter/>
          </a:ln>
        </p:spPr>
      </p:sp>
      <p:sp>
        <p:nvSpPr>
          <p:cNvPr name="Freeform 20" id="20"/>
          <p:cNvSpPr/>
          <p:nvPr/>
        </p:nvSpPr>
        <p:spPr>
          <a:xfrm flipH="true" flipV="true" rot="0">
            <a:off x="2669759" y="3992653"/>
            <a:ext cx="472226" cy="472226"/>
          </a:xfrm>
          <a:custGeom>
            <a:avLst/>
            <a:gdLst/>
            <a:ahLst/>
            <a:cxnLst/>
            <a:rect r="r" b="b" t="t" l="l"/>
            <a:pathLst>
              <a:path h="472226" w="472226">
                <a:moveTo>
                  <a:pt x="472225" y="472225"/>
                </a:moveTo>
                <a:lnTo>
                  <a:pt x="0" y="472225"/>
                </a:lnTo>
                <a:lnTo>
                  <a:pt x="0" y="0"/>
                </a:lnTo>
                <a:lnTo>
                  <a:pt x="472225" y="0"/>
                </a:lnTo>
                <a:lnTo>
                  <a:pt x="472225" y="472225"/>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0083791" y="8694255"/>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7"/>
            <a:stretch>
              <a:fillRect l="0" t="0" r="0" b="0"/>
            </a:stretch>
          </a:blipFill>
        </p:spPr>
      </p:sp>
      <p:sp>
        <p:nvSpPr>
          <p:cNvPr name="Freeform 22" id="22"/>
          <p:cNvSpPr/>
          <p:nvPr/>
        </p:nvSpPr>
        <p:spPr>
          <a:xfrm flipH="false" flipV="false" rot="0">
            <a:off x="3605866" y="8718147"/>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7"/>
            <a:stretch>
              <a:fillRect l="0" t="0" r="0" b="0"/>
            </a:stretch>
          </a:blipFill>
        </p:spPr>
      </p:sp>
      <p:sp>
        <p:nvSpPr>
          <p:cNvPr name="Freeform 23" id="23"/>
          <p:cNvSpPr/>
          <p:nvPr/>
        </p:nvSpPr>
        <p:spPr>
          <a:xfrm flipH="false" flipV="false" rot="0">
            <a:off x="11309925" y="557009"/>
            <a:ext cx="5347588" cy="3770050"/>
          </a:xfrm>
          <a:custGeom>
            <a:avLst/>
            <a:gdLst/>
            <a:ahLst/>
            <a:cxnLst/>
            <a:rect r="r" b="b" t="t" l="l"/>
            <a:pathLst>
              <a:path h="3770050" w="5347588">
                <a:moveTo>
                  <a:pt x="0" y="0"/>
                </a:moveTo>
                <a:lnTo>
                  <a:pt x="5347588" y="0"/>
                </a:lnTo>
                <a:lnTo>
                  <a:pt x="5347588" y="3770049"/>
                </a:lnTo>
                <a:lnTo>
                  <a:pt x="0" y="3770049"/>
                </a:lnTo>
                <a:lnTo>
                  <a:pt x="0" y="0"/>
                </a:lnTo>
                <a:close/>
              </a:path>
            </a:pathLst>
          </a:custGeom>
          <a:blipFill>
            <a:blip r:embed="rId8"/>
            <a:stretch>
              <a:fillRect l="0" t="0" r="0" b="0"/>
            </a:stretch>
          </a:blipFill>
        </p:spPr>
      </p:sp>
      <p:sp>
        <p:nvSpPr>
          <p:cNvPr name="Freeform 24" id="24"/>
          <p:cNvSpPr/>
          <p:nvPr/>
        </p:nvSpPr>
        <p:spPr>
          <a:xfrm flipH="false" flipV="false" rot="0">
            <a:off x="476625" y="1601633"/>
            <a:ext cx="3870020" cy="3326605"/>
          </a:xfrm>
          <a:custGeom>
            <a:avLst/>
            <a:gdLst/>
            <a:ahLst/>
            <a:cxnLst/>
            <a:rect r="r" b="b" t="t" l="l"/>
            <a:pathLst>
              <a:path h="3326605" w="3870020">
                <a:moveTo>
                  <a:pt x="0" y="0"/>
                </a:moveTo>
                <a:lnTo>
                  <a:pt x="3870020" y="0"/>
                </a:lnTo>
                <a:lnTo>
                  <a:pt x="3870020" y="3326605"/>
                </a:lnTo>
                <a:lnTo>
                  <a:pt x="0" y="332660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5" id="25"/>
          <p:cNvSpPr txBox="true"/>
          <p:nvPr/>
        </p:nvSpPr>
        <p:spPr>
          <a:xfrm rot="0">
            <a:off x="10420542" y="7603956"/>
            <a:ext cx="5375691" cy="721360"/>
          </a:xfrm>
          <a:prstGeom prst="rect">
            <a:avLst/>
          </a:prstGeom>
        </p:spPr>
        <p:txBody>
          <a:bodyPr anchor="t" rtlCol="false" tIns="0" lIns="0" bIns="0" rIns="0">
            <a:spAutoFit/>
          </a:bodyPr>
          <a:lstStyle/>
          <a:p>
            <a:pPr algn="l">
              <a:lnSpc>
                <a:spcPts val="2940"/>
              </a:lnSpc>
            </a:pPr>
            <a:r>
              <a:rPr lang="en-US" sz="2100" b="true">
                <a:solidFill>
                  <a:srgbClr val="F9FCFE"/>
                </a:solidFill>
                <a:latin typeface="Montserrat Bold"/>
                <a:ea typeface="Montserrat Bold"/>
                <a:cs typeface="Montserrat Bold"/>
                <a:sym typeface="Montserrat Bold"/>
              </a:rPr>
              <a:t>Revisit allocations quarterly in 2017 using updated sales mix data</a:t>
            </a:r>
          </a:p>
        </p:txBody>
      </p:sp>
      <p:sp>
        <p:nvSpPr>
          <p:cNvPr name="TextBox 26" id="26"/>
          <p:cNvSpPr txBox="true"/>
          <p:nvPr/>
        </p:nvSpPr>
        <p:spPr>
          <a:xfrm rot="0">
            <a:off x="3141984" y="4763770"/>
            <a:ext cx="6016856" cy="1089660"/>
          </a:xfrm>
          <a:prstGeom prst="rect">
            <a:avLst/>
          </a:prstGeom>
        </p:spPr>
        <p:txBody>
          <a:bodyPr anchor="t" rtlCol="false" tIns="0" lIns="0" bIns="0" rIns="0">
            <a:spAutoFit/>
          </a:bodyPr>
          <a:lstStyle/>
          <a:p>
            <a:pPr algn="l">
              <a:lnSpc>
                <a:spcPts val="2940"/>
              </a:lnSpc>
            </a:pPr>
            <a:r>
              <a:rPr lang="en-US" sz="2100" b="true">
                <a:solidFill>
                  <a:srgbClr val="FFFFFF"/>
                </a:solidFill>
                <a:latin typeface="Montserrat Bold"/>
                <a:ea typeface="Montserrat Bold"/>
                <a:cs typeface="Montserrat Bold"/>
                <a:sym typeface="Montserrat Bold"/>
              </a:rPr>
              <a:t>Increase EU allocation relative to North America to reflect 2016 share leadership</a:t>
            </a:r>
          </a:p>
          <a:p>
            <a:pPr algn="l">
              <a:lnSpc>
                <a:spcPts val="2940"/>
              </a:lnSpc>
            </a:pPr>
          </a:p>
        </p:txBody>
      </p:sp>
      <p:sp>
        <p:nvSpPr>
          <p:cNvPr name="TextBox 27" id="27"/>
          <p:cNvSpPr txBox="true"/>
          <p:nvPr/>
        </p:nvSpPr>
        <p:spPr>
          <a:xfrm rot="0">
            <a:off x="4442951" y="2102558"/>
            <a:ext cx="8344670" cy="1060515"/>
          </a:xfrm>
          <a:prstGeom prst="rect">
            <a:avLst/>
          </a:prstGeom>
        </p:spPr>
        <p:txBody>
          <a:bodyPr anchor="t" rtlCol="false" tIns="0" lIns="0" bIns="0" rIns="0">
            <a:spAutoFit/>
          </a:bodyPr>
          <a:lstStyle/>
          <a:p>
            <a:pPr algn="l">
              <a:lnSpc>
                <a:spcPts val="4747"/>
              </a:lnSpc>
            </a:pPr>
            <a:r>
              <a:rPr lang="en-US" sz="4700">
                <a:solidFill>
                  <a:srgbClr val="FFFFFF"/>
                </a:solidFill>
                <a:latin typeface="Poppins"/>
                <a:ea typeface="Poppins"/>
                <a:cs typeface="Poppins"/>
                <a:sym typeface="Poppins"/>
              </a:rPr>
              <a:t>RECOMMENDATION</a:t>
            </a:r>
          </a:p>
          <a:p>
            <a:pPr algn="l">
              <a:lnSpc>
                <a:spcPts val="3232"/>
              </a:lnSpc>
            </a:pPr>
            <a:r>
              <a:rPr lang="en-US" sz="3200" b="true">
                <a:solidFill>
                  <a:srgbClr val="FF2CED"/>
                </a:solidFill>
                <a:latin typeface="Poppins Bold"/>
                <a:ea typeface="Poppins Bold"/>
                <a:cs typeface="Poppins Bold"/>
                <a:sym typeface="Poppins Bold"/>
              </a:rPr>
              <a:t>FOR 2017 BUDGET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51037"/>
        </a:solidFill>
      </p:bgPr>
    </p:bg>
    <p:spTree>
      <p:nvGrpSpPr>
        <p:cNvPr id="1" name=""/>
        <p:cNvGrpSpPr/>
        <p:nvPr/>
      </p:nvGrpSpPr>
      <p:grpSpPr>
        <a:xfrm>
          <a:off x="0" y="0"/>
          <a:ext cx="0" cy="0"/>
          <a:chOff x="0" y="0"/>
          <a:chExt cx="0" cy="0"/>
        </a:xfrm>
      </p:grpSpPr>
      <p:sp>
        <p:nvSpPr>
          <p:cNvPr name="Freeform 2" id="2"/>
          <p:cNvSpPr/>
          <p:nvPr/>
        </p:nvSpPr>
        <p:spPr>
          <a:xfrm flipH="false" flipV="true" rot="-2329469">
            <a:off x="-6388646" y="-175134"/>
            <a:ext cx="18821161" cy="8116626"/>
          </a:xfrm>
          <a:custGeom>
            <a:avLst/>
            <a:gdLst/>
            <a:ahLst/>
            <a:cxnLst/>
            <a:rect r="r" b="b" t="t" l="l"/>
            <a:pathLst>
              <a:path h="8116626" w="18821161">
                <a:moveTo>
                  <a:pt x="0" y="8116625"/>
                </a:moveTo>
                <a:lnTo>
                  <a:pt x="18821161" y="8116625"/>
                </a:lnTo>
                <a:lnTo>
                  <a:pt x="18821161" y="0"/>
                </a:lnTo>
                <a:lnTo>
                  <a:pt x="0" y="0"/>
                </a:lnTo>
                <a:lnTo>
                  <a:pt x="0" y="8116625"/>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true" rot="-2329469">
            <a:off x="11775152" y="2638992"/>
            <a:ext cx="18821161" cy="8116626"/>
          </a:xfrm>
          <a:custGeom>
            <a:avLst/>
            <a:gdLst/>
            <a:ahLst/>
            <a:cxnLst/>
            <a:rect r="r" b="b" t="t" l="l"/>
            <a:pathLst>
              <a:path h="8116626" w="18821161">
                <a:moveTo>
                  <a:pt x="0" y="8116626"/>
                </a:moveTo>
                <a:lnTo>
                  <a:pt x="18821161" y="8116626"/>
                </a:lnTo>
                <a:lnTo>
                  <a:pt x="18821161" y="0"/>
                </a:lnTo>
                <a:lnTo>
                  <a:pt x="0" y="0"/>
                </a:lnTo>
                <a:lnTo>
                  <a:pt x="0" y="811662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4" id="4"/>
          <p:cNvGrpSpPr/>
          <p:nvPr/>
        </p:nvGrpSpPr>
        <p:grpSpPr>
          <a:xfrm rot="0">
            <a:off x="426478" y="5900273"/>
            <a:ext cx="4038462" cy="3809879"/>
            <a:chOff x="0" y="0"/>
            <a:chExt cx="1063628" cy="1003425"/>
          </a:xfrm>
        </p:grpSpPr>
        <p:sp>
          <p:nvSpPr>
            <p:cNvPr name="Freeform 5" id="5"/>
            <p:cNvSpPr/>
            <p:nvPr/>
          </p:nvSpPr>
          <p:spPr>
            <a:xfrm flipH="false" flipV="false" rot="0">
              <a:off x="0" y="0"/>
              <a:ext cx="1063628" cy="1003425"/>
            </a:xfrm>
            <a:custGeom>
              <a:avLst/>
              <a:gdLst/>
              <a:ahLst/>
              <a:cxnLst/>
              <a:rect r="r" b="b" t="t" l="l"/>
              <a:pathLst>
                <a:path h="1003425" w="1063628">
                  <a:moveTo>
                    <a:pt x="0" y="0"/>
                  </a:moveTo>
                  <a:lnTo>
                    <a:pt x="1063628" y="0"/>
                  </a:lnTo>
                  <a:lnTo>
                    <a:pt x="1063628" y="1003425"/>
                  </a:lnTo>
                  <a:lnTo>
                    <a:pt x="0" y="1003425"/>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6" id="6"/>
            <p:cNvSpPr txBox="true"/>
            <p:nvPr/>
          </p:nvSpPr>
          <p:spPr>
            <a:xfrm>
              <a:off x="0" y="-66675"/>
              <a:ext cx="1063628" cy="1070100"/>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7" id="7"/>
          <p:cNvSpPr/>
          <p:nvPr/>
        </p:nvSpPr>
        <p:spPr>
          <a:xfrm flipH="false" flipV="false" rot="0">
            <a:off x="12441981" y="9258300"/>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4"/>
            <a:stretch>
              <a:fillRect l="0" t="0" r="0" b="0"/>
            </a:stretch>
          </a:blipFill>
        </p:spPr>
      </p:sp>
      <p:sp>
        <p:nvSpPr>
          <p:cNvPr name="Freeform 8" id="8"/>
          <p:cNvSpPr/>
          <p:nvPr/>
        </p:nvSpPr>
        <p:spPr>
          <a:xfrm flipH="false" flipV="false" rot="0">
            <a:off x="3714151" y="9258300"/>
            <a:ext cx="6140127" cy="887760"/>
          </a:xfrm>
          <a:custGeom>
            <a:avLst/>
            <a:gdLst/>
            <a:ahLst/>
            <a:cxnLst/>
            <a:rect r="r" b="b" t="t" l="l"/>
            <a:pathLst>
              <a:path h="887760" w="6140127">
                <a:moveTo>
                  <a:pt x="0" y="0"/>
                </a:moveTo>
                <a:lnTo>
                  <a:pt x="6140126" y="0"/>
                </a:lnTo>
                <a:lnTo>
                  <a:pt x="6140126" y="887760"/>
                </a:lnTo>
                <a:lnTo>
                  <a:pt x="0" y="887760"/>
                </a:lnTo>
                <a:lnTo>
                  <a:pt x="0" y="0"/>
                </a:lnTo>
                <a:close/>
              </a:path>
            </a:pathLst>
          </a:custGeom>
          <a:blipFill>
            <a:blip r:embed="rId4"/>
            <a:stretch>
              <a:fillRect l="0" t="0" r="0" b="0"/>
            </a:stretch>
          </a:blipFill>
        </p:spPr>
      </p:sp>
      <p:grpSp>
        <p:nvGrpSpPr>
          <p:cNvPr name="Group 9" id="9"/>
          <p:cNvGrpSpPr/>
          <p:nvPr/>
        </p:nvGrpSpPr>
        <p:grpSpPr>
          <a:xfrm rot="0">
            <a:off x="4850088" y="5900273"/>
            <a:ext cx="4038462" cy="3809879"/>
            <a:chOff x="0" y="0"/>
            <a:chExt cx="1063628" cy="1003425"/>
          </a:xfrm>
        </p:grpSpPr>
        <p:sp>
          <p:nvSpPr>
            <p:cNvPr name="Freeform 10" id="10"/>
            <p:cNvSpPr/>
            <p:nvPr/>
          </p:nvSpPr>
          <p:spPr>
            <a:xfrm flipH="false" flipV="false" rot="0">
              <a:off x="0" y="0"/>
              <a:ext cx="1063628" cy="1003425"/>
            </a:xfrm>
            <a:custGeom>
              <a:avLst/>
              <a:gdLst/>
              <a:ahLst/>
              <a:cxnLst/>
              <a:rect r="r" b="b" t="t" l="l"/>
              <a:pathLst>
                <a:path h="1003425" w="1063628">
                  <a:moveTo>
                    <a:pt x="0" y="0"/>
                  </a:moveTo>
                  <a:lnTo>
                    <a:pt x="1063628" y="0"/>
                  </a:lnTo>
                  <a:lnTo>
                    <a:pt x="1063628" y="1003425"/>
                  </a:lnTo>
                  <a:lnTo>
                    <a:pt x="0" y="1003425"/>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11" id="11"/>
            <p:cNvSpPr txBox="true"/>
            <p:nvPr/>
          </p:nvSpPr>
          <p:spPr>
            <a:xfrm>
              <a:off x="0" y="-66675"/>
              <a:ext cx="1063628" cy="1070100"/>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12" id="12"/>
          <p:cNvGrpSpPr/>
          <p:nvPr/>
        </p:nvGrpSpPr>
        <p:grpSpPr>
          <a:xfrm rot="0">
            <a:off x="9144000" y="5900273"/>
            <a:ext cx="4231036" cy="3809879"/>
            <a:chOff x="0" y="0"/>
            <a:chExt cx="1114347" cy="1003425"/>
          </a:xfrm>
        </p:grpSpPr>
        <p:sp>
          <p:nvSpPr>
            <p:cNvPr name="Freeform 13" id="13"/>
            <p:cNvSpPr/>
            <p:nvPr/>
          </p:nvSpPr>
          <p:spPr>
            <a:xfrm flipH="false" flipV="false" rot="0">
              <a:off x="0" y="0"/>
              <a:ext cx="1114347" cy="1003425"/>
            </a:xfrm>
            <a:custGeom>
              <a:avLst/>
              <a:gdLst/>
              <a:ahLst/>
              <a:cxnLst/>
              <a:rect r="r" b="b" t="t" l="l"/>
              <a:pathLst>
                <a:path h="1003425" w="1114347">
                  <a:moveTo>
                    <a:pt x="0" y="0"/>
                  </a:moveTo>
                  <a:lnTo>
                    <a:pt x="1114347" y="0"/>
                  </a:lnTo>
                  <a:lnTo>
                    <a:pt x="1114347" y="1003425"/>
                  </a:lnTo>
                  <a:lnTo>
                    <a:pt x="0" y="1003425"/>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14" id="14"/>
            <p:cNvSpPr txBox="true"/>
            <p:nvPr/>
          </p:nvSpPr>
          <p:spPr>
            <a:xfrm>
              <a:off x="0" y="-66675"/>
              <a:ext cx="1114347" cy="1070100"/>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15" id="15"/>
          <p:cNvGrpSpPr/>
          <p:nvPr/>
        </p:nvGrpSpPr>
        <p:grpSpPr>
          <a:xfrm rot="0">
            <a:off x="13697309" y="5900273"/>
            <a:ext cx="4194873" cy="3809879"/>
            <a:chOff x="0" y="0"/>
            <a:chExt cx="1104822" cy="1003425"/>
          </a:xfrm>
        </p:grpSpPr>
        <p:sp>
          <p:nvSpPr>
            <p:cNvPr name="Freeform 16" id="16"/>
            <p:cNvSpPr/>
            <p:nvPr/>
          </p:nvSpPr>
          <p:spPr>
            <a:xfrm flipH="false" flipV="false" rot="0">
              <a:off x="0" y="0"/>
              <a:ext cx="1104822" cy="1003425"/>
            </a:xfrm>
            <a:custGeom>
              <a:avLst/>
              <a:gdLst/>
              <a:ahLst/>
              <a:cxnLst/>
              <a:rect r="r" b="b" t="t" l="l"/>
              <a:pathLst>
                <a:path h="1003425" w="1104822">
                  <a:moveTo>
                    <a:pt x="0" y="0"/>
                  </a:moveTo>
                  <a:lnTo>
                    <a:pt x="1104822" y="0"/>
                  </a:lnTo>
                  <a:lnTo>
                    <a:pt x="1104822" y="1003425"/>
                  </a:lnTo>
                  <a:lnTo>
                    <a:pt x="0" y="1003425"/>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17" id="17"/>
            <p:cNvSpPr txBox="true"/>
            <p:nvPr/>
          </p:nvSpPr>
          <p:spPr>
            <a:xfrm>
              <a:off x="0" y="-66675"/>
              <a:ext cx="1104822" cy="1070100"/>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18" id="18"/>
          <p:cNvSpPr/>
          <p:nvPr/>
        </p:nvSpPr>
        <p:spPr>
          <a:xfrm flipH="false" flipV="false" rot="0">
            <a:off x="464193" y="1470967"/>
            <a:ext cx="8424358" cy="4164611"/>
          </a:xfrm>
          <a:custGeom>
            <a:avLst/>
            <a:gdLst/>
            <a:ahLst/>
            <a:cxnLst/>
            <a:rect r="r" b="b" t="t" l="l"/>
            <a:pathLst>
              <a:path h="4164611" w="8424358">
                <a:moveTo>
                  <a:pt x="0" y="0"/>
                </a:moveTo>
                <a:lnTo>
                  <a:pt x="8424357" y="0"/>
                </a:lnTo>
                <a:lnTo>
                  <a:pt x="8424357" y="4164611"/>
                </a:lnTo>
                <a:lnTo>
                  <a:pt x="0" y="4164611"/>
                </a:lnTo>
                <a:lnTo>
                  <a:pt x="0" y="0"/>
                </a:lnTo>
                <a:close/>
              </a:path>
            </a:pathLst>
          </a:custGeom>
          <a:blipFill>
            <a:blip r:embed="rId5"/>
            <a:stretch>
              <a:fillRect l="-1168" t="-3376" r="-2003" b="-4051"/>
            </a:stretch>
          </a:blipFill>
        </p:spPr>
      </p:sp>
      <p:sp>
        <p:nvSpPr>
          <p:cNvPr name="TextBox 19" id="19"/>
          <p:cNvSpPr txBox="true"/>
          <p:nvPr/>
        </p:nvSpPr>
        <p:spPr>
          <a:xfrm rot="0">
            <a:off x="713167" y="6029641"/>
            <a:ext cx="3622572" cy="3455035"/>
          </a:xfrm>
          <a:prstGeom prst="rect">
            <a:avLst/>
          </a:prstGeom>
        </p:spPr>
        <p:txBody>
          <a:bodyPr anchor="t" rtlCol="false" tIns="0" lIns="0" bIns="0" rIns="0">
            <a:spAutoFit/>
          </a:bodyPr>
          <a:lstStyle/>
          <a:p>
            <a:pPr algn="l">
              <a:lnSpc>
                <a:spcPts val="2240"/>
              </a:lnSpc>
            </a:pPr>
            <a:r>
              <a:rPr lang="en-US" sz="1600" b="true">
                <a:solidFill>
                  <a:srgbClr val="FFFFFF"/>
                </a:solidFill>
                <a:latin typeface="Montserrat Bold"/>
                <a:ea typeface="Montserrat Bold"/>
                <a:cs typeface="Montserrat Bold"/>
                <a:sym typeface="Montserrat Bold"/>
              </a:rPr>
              <a:t>North America (NA)</a:t>
            </a:r>
          </a:p>
          <a:p>
            <a:pPr algn="l" marL="345441" indent="-172721" lvl="1">
              <a:lnSpc>
                <a:spcPts val="2240"/>
              </a:lnSpc>
              <a:buAutoNum type="arabicPeriod" startAt="1"/>
            </a:pPr>
            <a:r>
              <a:rPr lang="en-US" b="true" sz="1600">
                <a:solidFill>
                  <a:srgbClr val="FFFFFF"/>
                </a:solidFill>
                <a:latin typeface="Montserrat Bold"/>
                <a:ea typeface="Montserrat Bold"/>
                <a:cs typeface="Montserrat Bold"/>
                <a:sym typeface="Montserrat Bold"/>
              </a:rPr>
              <a:t>Action</a:t>
            </a:r>
          </a:p>
          <a:p>
            <a:pPr algn="l" marL="345441" indent="-172721" lvl="1">
              <a:lnSpc>
                <a:spcPts val="2240"/>
              </a:lnSpc>
              <a:buAutoNum type="arabicPeriod" startAt="1"/>
            </a:pPr>
            <a:r>
              <a:rPr lang="en-US" b="true" sz="1600">
                <a:solidFill>
                  <a:srgbClr val="FFFFFF"/>
                </a:solidFill>
                <a:latin typeface="Montserrat Bold"/>
                <a:ea typeface="Montserrat Bold"/>
                <a:cs typeface="Montserrat Bold"/>
                <a:sym typeface="Montserrat Bold"/>
              </a:rPr>
              <a:t>Shooter</a:t>
            </a:r>
          </a:p>
          <a:p>
            <a:pPr algn="l" marL="345441" indent="-172721" lvl="1">
              <a:lnSpc>
                <a:spcPts val="2240"/>
              </a:lnSpc>
              <a:buAutoNum type="arabicPeriod" startAt="1"/>
            </a:pPr>
            <a:r>
              <a:rPr lang="en-US" b="true" sz="1600">
                <a:solidFill>
                  <a:srgbClr val="FFFFFF"/>
                </a:solidFill>
                <a:latin typeface="Montserrat Bold"/>
                <a:ea typeface="Montserrat Bold"/>
                <a:cs typeface="Montserrat Bold"/>
                <a:sym typeface="Montserrat Bold"/>
              </a:rPr>
              <a:t>Sports</a:t>
            </a:r>
          </a:p>
          <a:p>
            <a:pPr algn="l" marL="345441" indent="-172721" lvl="1">
              <a:lnSpc>
                <a:spcPts val="2240"/>
              </a:lnSpc>
              <a:buAutoNum type="arabicPeriod" startAt="1"/>
            </a:pPr>
            <a:r>
              <a:rPr lang="en-US" b="true" sz="1600">
                <a:solidFill>
                  <a:srgbClr val="FFFFFF"/>
                </a:solidFill>
                <a:latin typeface="Montserrat Bold"/>
                <a:ea typeface="Montserrat Bold"/>
                <a:cs typeface="Montserrat Bold"/>
                <a:sym typeface="Montserrat Bold"/>
              </a:rPr>
              <a:t>Platform</a:t>
            </a:r>
          </a:p>
          <a:p>
            <a:pPr algn="l" marL="345441" indent="-172721" lvl="1">
              <a:lnSpc>
                <a:spcPts val="2240"/>
              </a:lnSpc>
              <a:buAutoNum type="arabicPeriod" startAt="1"/>
            </a:pPr>
            <a:r>
              <a:rPr lang="en-US" b="true" sz="1600">
                <a:solidFill>
                  <a:srgbClr val="FFFFFF"/>
                </a:solidFill>
                <a:latin typeface="Montserrat Bold"/>
                <a:ea typeface="Montserrat Bold"/>
                <a:cs typeface="Montserrat Bold"/>
                <a:sym typeface="Montserrat Bold"/>
              </a:rPr>
              <a:t>Racing</a:t>
            </a:r>
          </a:p>
          <a:p>
            <a:pPr algn="l">
              <a:lnSpc>
                <a:spcPts val="2240"/>
              </a:lnSpc>
            </a:pPr>
          </a:p>
          <a:p>
            <a:pPr algn="l">
              <a:lnSpc>
                <a:spcPts val="2240"/>
              </a:lnSpc>
            </a:pPr>
            <a:r>
              <a:rPr lang="en-US" sz="1600" b="true">
                <a:solidFill>
                  <a:srgbClr val="FFFFFF"/>
                </a:solidFill>
                <a:latin typeface="Montserrat Bold"/>
                <a:ea typeface="Montserrat Bold"/>
                <a:cs typeface="Montserrat Bold"/>
                <a:sym typeface="Montserrat Bold"/>
              </a:rPr>
              <a:t>North American players favor high-intensity, competitive titles, especially first-person shooters and sports franchises like Call of Duty and Madden NFL.</a:t>
            </a:r>
          </a:p>
          <a:p>
            <a:pPr algn="l">
              <a:lnSpc>
                <a:spcPts val="2240"/>
              </a:lnSpc>
            </a:pPr>
          </a:p>
        </p:txBody>
      </p:sp>
      <p:sp>
        <p:nvSpPr>
          <p:cNvPr name="TextBox 20" id="20"/>
          <p:cNvSpPr txBox="true"/>
          <p:nvPr/>
        </p:nvSpPr>
        <p:spPr>
          <a:xfrm rot="0">
            <a:off x="464193" y="351256"/>
            <a:ext cx="7743091" cy="949264"/>
          </a:xfrm>
          <a:prstGeom prst="rect">
            <a:avLst/>
          </a:prstGeom>
        </p:spPr>
        <p:txBody>
          <a:bodyPr anchor="t" rtlCol="false" tIns="0" lIns="0" bIns="0" rIns="0">
            <a:spAutoFit/>
          </a:bodyPr>
          <a:lstStyle/>
          <a:p>
            <a:pPr algn="l">
              <a:lnSpc>
                <a:spcPts val="4747"/>
              </a:lnSpc>
            </a:pPr>
            <a:r>
              <a:rPr lang="en-US" sz="4700">
                <a:solidFill>
                  <a:srgbClr val="FFFFFF"/>
                </a:solidFill>
                <a:latin typeface="Poppins"/>
                <a:ea typeface="Poppins"/>
                <a:cs typeface="Poppins"/>
                <a:sym typeface="Poppins"/>
              </a:rPr>
              <a:t>TOP 5 GENRES BY REGION</a:t>
            </a:r>
          </a:p>
          <a:p>
            <a:pPr algn="l">
              <a:lnSpc>
                <a:spcPts val="2424"/>
              </a:lnSpc>
            </a:pPr>
            <a:r>
              <a:rPr lang="en-US" sz="2400" b="true">
                <a:solidFill>
                  <a:srgbClr val="FF2CED"/>
                </a:solidFill>
                <a:latin typeface="Poppins Bold"/>
                <a:ea typeface="Poppins Bold"/>
                <a:cs typeface="Poppins Bold"/>
                <a:sym typeface="Poppins Bold"/>
              </a:rPr>
              <a:t>2006–2016 CUMULATIVE SALES:</a:t>
            </a:r>
          </a:p>
        </p:txBody>
      </p:sp>
      <p:sp>
        <p:nvSpPr>
          <p:cNvPr name="TextBox 21" id="21"/>
          <p:cNvSpPr txBox="true"/>
          <p:nvPr/>
        </p:nvSpPr>
        <p:spPr>
          <a:xfrm rot="0">
            <a:off x="5079627" y="6045628"/>
            <a:ext cx="3622572" cy="3490595"/>
          </a:xfrm>
          <a:prstGeom prst="rect">
            <a:avLst/>
          </a:prstGeom>
        </p:spPr>
        <p:txBody>
          <a:bodyPr anchor="t" rtlCol="false" tIns="0" lIns="0" bIns="0" rIns="0">
            <a:spAutoFit/>
          </a:bodyPr>
          <a:lstStyle/>
          <a:p>
            <a:pPr algn="l">
              <a:lnSpc>
                <a:spcPts val="2240"/>
              </a:lnSpc>
            </a:pPr>
            <a:r>
              <a:rPr lang="en-US" sz="1600" b="true">
                <a:solidFill>
                  <a:srgbClr val="FFFFFF"/>
                </a:solidFill>
                <a:latin typeface="Montserrat Bold"/>
                <a:ea typeface="Montserrat Bold"/>
                <a:cs typeface="Montserrat Bold"/>
                <a:sym typeface="Montserrat Bold"/>
              </a:rPr>
              <a:t>Europe (EU)</a:t>
            </a:r>
          </a:p>
          <a:p>
            <a:pPr algn="l" marL="345441" indent="-172721" lvl="1">
              <a:lnSpc>
                <a:spcPts val="2240"/>
              </a:lnSpc>
              <a:buAutoNum type="arabicPeriod" startAt="1"/>
            </a:pPr>
            <a:r>
              <a:rPr lang="en-US" b="true" sz="1600">
                <a:solidFill>
                  <a:srgbClr val="FFFFFF"/>
                </a:solidFill>
                <a:latin typeface="Montserrat Bold"/>
                <a:ea typeface="Montserrat Bold"/>
                <a:cs typeface="Montserrat Bold"/>
                <a:sym typeface="Montserrat Bold"/>
              </a:rPr>
              <a:t>Action</a:t>
            </a:r>
          </a:p>
          <a:p>
            <a:pPr algn="l" marL="345441" indent="-172721" lvl="1">
              <a:lnSpc>
                <a:spcPts val="2240"/>
              </a:lnSpc>
              <a:buAutoNum type="arabicPeriod" startAt="1"/>
            </a:pPr>
            <a:r>
              <a:rPr lang="en-US" b="true" sz="1600">
                <a:solidFill>
                  <a:srgbClr val="FFFFFF"/>
                </a:solidFill>
                <a:latin typeface="Montserrat Bold"/>
                <a:ea typeface="Montserrat Bold"/>
                <a:cs typeface="Montserrat Bold"/>
                <a:sym typeface="Montserrat Bold"/>
              </a:rPr>
              <a:t>Shooter</a:t>
            </a:r>
          </a:p>
          <a:p>
            <a:pPr algn="l" marL="345441" indent="-172721" lvl="1">
              <a:lnSpc>
                <a:spcPts val="2240"/>
              </a:lnSpc>
              <a:buAutoNum type="arabicPeriod" startAt="1"/>
            </a:pPr>
            <a:r>
              <a:rPr lang="en-US" b="true" sz="1600">
                <a:solidFill>
                  <a:srgbClr val="FFFFFF"/>
                </a:solidFill>
                <a:latin typeface="Montserrat Bold"/>
                <a:ea typeface="Montserrat Bold"/>
                <a:cs typeface="Montserrat Bold"/>
                <a:sym typeface="Montserrat Bold"/>
              </a:rPr>
              <a:t>Sports</a:t>
            </a:r>
          </a:p>
          <a:p>
            <a:pPr algn="l" marL="345441" indent="-172721" lvl="1">
              <a:lnSpc>
                <a:spcPts val="2240"/>
              </a:lnSpc>
              <a:buAutoNum type="arabicPeriod" startAt="1"/>
            </a:pPr>
            <a:r>
              <a:rPr lang="en-US" b="true" sz="1600">
                <a:solidFill>
                  <a:srgbClr val="FFFFFF"/>
                </a:solidFill>
                <a:latin typeface="Montserrat Bold"/>
                <a:ea typeface="Montserrat Bold"/>
                <a:cs typeface="Montserrat Bold"/>
                <a:sym typeface="Montserrat Bold"/>
              </a:rPr>
              <a:t>R</a:t>
            </a:r>
            <a:r>
              <a:rPr lang="en-US" b="true" sz="1600">
                <a:solidFill>
                  <a:srgbClr val="FFFFFF"/>
                </a:solidFill>
                <a:latin typeface="Montserrat Bold"/>
                <a:ea typeface="Montserrat Bold"/>
                <a:cs typeface="Montserrat Bold"/>
                <a:sym typeface="Montserrat Bold"/>
              </a:rPr>
              <a:t>acing</a:t>
            </a:r>
          </a:p>
          <a:p>
            <a:pPr algn="l" marL="345441" indent="-172721" lvl="1">
              <a:lnSpc>
                <a:spcPts val="2240"/>
              </a:lnSpc>
              <a:buAutoNum type="arabicPeriod" startAt="1"/>
            </a:pPr>
            <a:r>
              <a:rPr lang="en-US" b="true" sz="1600">
                <a:solidFill>
                  <a:srgbClr val="FFFFFF"/>
                </a:solidFill>
                <a:latin typeface="Montserrat Bold"/>
                <a:ea typeface="Montserrat Bold"/>
                <a:cs typeface="Montserrat Bold"/>
                <a:sym typeface="Montserrat Bold"/>
              </a:rPr>
              <a:t>Role-Playing (RPG)</a:t>
            </a:r>
          </a:p>
          <a:p>
            <a:pPr algn="l">
              <a:lnSpc>
                <a:spcPts val="2240"/>
              </a:lnSpc>
            </a:pPr>
          </a:p>
          <a:p>
            <a:pPr algn="l">
              <a:lnSpc>
                <a:spcPts val="2240"/>
              </a:lnSpc>
            </a:pPr>
            <a:r>
              <a:rPr lang="en-US" sz="1600" b="true">
                <a:solidFill>
                  <a:srgbClr val="FFFFFF"/>
                </a:solidFill>
                <a:latin typeface="Montserrat Bold"/>
                <a:ea typeface="Montserrat Bold"/>
                <a:cs typeface="Montserrat Bold"/>
                <a:sym typeface="Montserrat Bold"/>
              </a:rPr>
              <a:t>Europe mirrors </a:t>
            </a:r>
            <a:r>
              <a:rPr lang="en-US" sz="1600" b="true">
                <a:solidFill>
                  <a:srgbClr val="FFFFFF"/>
                </a:solidFill>
                <a:latin typeface="Montserrat Bold"/>
                <a:ea typeface="Montserrat Bold"/>
                <a:cs typeface="Montserrat Bold"/>
                <a:sym typeface="Montserrat Bold"/>
              </a:rPr>
              <a:t>North America but shows stronger interest in Racing and RPGs, reflecting the popularity of franchises such as FIFA and Gran Turismo.</a:t>
            </a:r>
          </a:p>
          <a:p>
            <a:pPr algn="l">
              <a:lnSpc>
                <a:spcPts val="2520"/>
              </a:lnSpc>
            </a:pPr>
          </a:p>
        </p:txBody>
      </p:sp>
      <p:sp>
        <p:nvSpPr>
          <p:cNvPr name="TextBox 22" id="22"/>
          <p:cNvSpPr txBox="true"/>
          <p:nvPr/>
        </p:nvSpPr>
        <p:spPr>
          <a:xfrm rot="0">
            <a:off x="9394666" y="6029641"/>
            <a:ext cx="3830517" cy="3816985"/>
          </a:xfrm>
          <a:prstGeom prst="rect">
            <a:avLst/>
          </a:prstGeom>
        </p:spPr>
        <p:txBody>
          <a:bodyPr anchor="t" rtlCol="false" tIns="0" lIns="0" bIns="0" rIns="0">
            <a:spAutoFit/>
          </a:bodyPr>
          <a:lstStyle/>
          <a:p>
            <a:pPr algn="l">
              <a:lnSpc>
                <a:spcPts val="2240"/>
              </a:lnSpc>
            </a:pPr>
            <a:r>
              <a:rPr lang="en-US" sz="1600" b="true">
                <a:solidFill>
                  <a:srgbClr val="FFFFFF"/>
                </a:solidFill>
                <a:latin typeface="Montserrat Bold"/>
                <a:ea typeface="Montserrat Bold"/>
                <a:cs typeface="Montserrat Bold"/>
                <a:sym typeface="Montserrat Bold"/>
              </a:rPr>
              <a:t>Japan (JP)</a:t>
            </a:r>
          </a:p>
          <a:p>
            <a:pPr algn="l" marL="345444" indent="-172722" lvl="1">
              <a:lnSpc>
                <a:spcPts val="2240"/>
              </a:lnSpc>
              <a:buAutoNum type="arabicPeriod" startAt="1"/>
            </a:pPr>
            <a:r>
              <a:rPr lang="en-US" b="true" sz="1600">
                <a:solidFill>
                  <a:srgbClr val="FFFFFF"/>
                </a:solidFill>
                <a:latin typeface="Montserrat Bold"/>
                <a:ea typeface="Montserrat Bold"/>
                <a:cs typeface="Montserrat Bold"/>
                <a:sym typeface="Montserrat Bold"/>
              </a:rPr>
              <a:t>Role-Playing (RPG)</a:t>
            </a:r>
          </a:p>
          <a:p>
            <a:pPr algn="l" marL="345444" indent="-172722" lvl="1">
              <a:lnSpc>
                <a:spcPts val="2240"/>
              </a:lnSpc>
              <a:buAutoNum type="arabicPeriod" startAt="1"/>
            </a:pPr>
            <a:r>
              <a:rPr lang="en-US" b="true" sz="1600">
                <a:solidFill>
                  <a:srgbClr val="FFFFFF"/>
                </a:solidFill>
                <a:latin typeface="Montserrat Bold"/>
                <a:ea typeface="Montserrat Bold"/>
                <a:cs typeface="Montserrat Bold"/>
                <a:sym typeface="Montserrat Bold"/>
              </a:rPr>
              <a:t>Action</a:t>
            </a:r>
          </a:p>
          <a:p>
            <a:pPr algn="l" marL="345444" indent="-172722" lvl="1">
              <a:lnSpc>
                <a:spcPts val="2240"/>
              </a:lnSpc>
              <a:buAutoNum type="arabicPeriod" startAt="1"/>
            </a:pPr>
            <a:r>
              <a:rPr lang="en-US" b="true" sz="1600">
                <a:solidFill>
                  <a:srgbClr val="FFFFFF"/>
                </a:solidFill>
                <a:latin typeface="Montserrat Bold"/>
                <a:ea typeface="Montserrat Bold"/>
                <a:cs typeface="Montserrat Bold"/>
                <a:sym typeface="Montserrat Bold"/>
              </a:rPr>
              <a:t>Fighting</a:t>
            </a:r>
          </a:p>
          <a:p>
            <a:pPr algn="l" marL="345444" indent="-172722" lvl="1">
              <a:lnSpc>
                <a:spcPts val="2240"/>
              </a:lnSpc>
              <a:buAutoNum type="arabicPeriod" startAt="1"/>
            </a:pPr>
            <a:r>
              <a:rPr lang="en-US" b="true" sz="1600">
                <a:solidFill>
                  <a:srgbClr val="FFFFFF"/>
                </a:solidFill>
                <a:latin typeface="Montserrat Bold"/>
                <a:ea typeface="Montserrat Bold"/>
                <a:cs typeface="Montserrat Bold"/>
                <a:sym typeface="Montserrat Bold"/>
              </a:rPr>
              <a:t>Platfo</a:t>
            </a:r>
            <a:r>
              <a:rPr lang="en-US" b="true" sz="1600">
                <a:solidFill>
                  <a:srgbClr val="FFFFFF"/>
                </a:solidFill>
                <a:latin typeface="Montserrat Bold"/>
                <a:ea typeface="Montserrat Bold"/>
                <a:cs typeface="Montserrat Bold"/>
                <a:sym typeface="Montserrat Bold"/>
              </a:rPr>
              <a:t>rm</a:t>
            </a:r>
          </a:p>
          <a:p>
            <a:pPr algn="l" marL="345444" indent="-172722" lvl="1">
              <a:lnSpc>
                <a:spcPts val="2240"/>
              </a:lnSpc>
              <a:buAutoNum type="arabicPeriod" startAt="1"/>
            </a:pPr>
            <a:r>
              <a:rPr lang="en-US" b="true" sz="1600">
                <a:solidFill>
                  <a:srgbClr val="FFFFFF"/>
                </a:solidFill>
                <a:latin typeface="Montserrat Bold"/>
                <a:ea typeface="Montserrat Bold"/>
                <a:cs typeface="Montserrat Bold"/>
                <a:sym typeface="Montserrat Bold"/>
              </a:rPr>
              <a:t>Shooter</a:t>
            </a:r>
          </a:p>
          <a:p>
            <a:pPr algn="l">
              <a:lnSpc>
                <a:spcPts val="2240"/>
              </a:lnSpc>
            </a:pPr>
          </a:p>
          <a:p>
            <a:pPr algn="l">
              <a:lnSpc>
                <a:spcPts val="2240"/>
              </a:lnSpc>
            </a:pPr>
            <a:r>
              <a:rPr lang="en-US" sz="1600" b="true">
                <a:solidFill>
                  <a:srgbClr val="FFFFFF"/>
                </a:solidFill>
                <a:latin typeface="Montserrat Bold"/>
                <a:ea typeface="Montserrat Bold"/>
                <a:cs typeface="Montserrat Bold"/>
                <a:sym typeface="Montserrat Bold"/>
              </a:rPr>
              <a:t>The Japanese market stands apa</a:t>
            </a:r>
            <a:r>
              <a:rPr lang="en-US" sz="1600" b="true">
                <a:solidFill>
                  <a:srgbClr val="FFFFFF"/>
                </a:solidFill>
                <a:latin typeface="Montserrat Bold"/>
                <a:ea typeface="Montserrat Bold"/>
                <a:cs typeface="Montserrat Bold"/>
                <a:sym typeface="Montserrat Bold"/>
              </a:rPr>
              <a:t>rt with a clear preference for RPGs (e.g., Final Fantasy, Pokémon) and Fighting games, showing the enduring strength of narrative-driven, character-based genres.</a:t>
            </a:r>
          </a:p>
          <a:p>
            <a:pPr algn="l">
              <a:lnSpc>
                <a:spcPts val="2940"/>
              </a:lnSpc>
            </a:pPr>
          </a:p>
        </p:txBody>
      </p:sp>
      <p:sp>
        <p:nvSpPr>
          <p:cNvPr name="TextBox 23" id="23"/>
          <p:cNvSpPr txBox="true"/>
          <p:nvPr/>
        </p:nvSpPr>
        <p:spPr>
          <a:xfrm rot="0">
            <a:off x="13921078" y="6045628"/>
            <a:ext cx="3814694" cy="3490595"/>
          </a:xfrm>
          <a:prstGeom prst="rect">
            <a:avLst/>
          </a:prstGeom>
        </p:spPr>
        <p:txBody>
          <a:bodyPr anchor="t" rtlCol="false" tIns="0" lIns="0" bIns="0" rIns="0">
            <a:spAutoFit/>
          </a:bodyPr>
          <a:lstStyle/>
          <a:p>
            <a:pPr algn="l">
              <a:lnSpc>
                <a:spcPts val="2240"/>
              </a:lnSpc>
            </a:pPr>
            <a:r>
              <a:rPr lang="en-US" sz="1600" b="true">
                <a:solidFill>
                  <a:srgbClr val="FFFFFF"/>
                </a:solidFill>
                <a:latin typeface="Montserrat Bold"/>
                <a:ea typeface="Montserrat Bold"/>
                <a:cs typeface="Montserrat Bold"/>
                <a:sym typeface="Montserrat Bold"/>
              </a:rPr>
              <a:t>Other Regions</a:t>
            </a:r>
          </a:p>
          <a:p>
            <a:pPr algn="l" marL="345441" indent="-172721" lvl="1">
              <a:lnSpc>
                <a:spcPts val="2240"/>
              </a:lnSpc>
              <a:buAutoNum type="arabicPeriod" startAt="1"/>
            </a:pPr>
            <a:r>
              <a:rPr lang="en-US" b="true" sz="1600">
                <a:solidFill>
                  <a:srgbClr val="FFFFFF"/>
                </a:solidFill>
                <a:latin typeface="Montserrat Bold"/>
                <a:ea typeface="Montserrat Bold"/>
                <a:cs typeface="Montserrat Bold"/>
                <a:sym typeface="Montserrat Bold"/>
              </a:rPr>
              <a:t>Action</a:t>
            </a:r>
          </a:p>
          <a:p>
            <a:pPr algn="l" marL="345441" indent="-172721" lvl="1">
              <a:lnSpc>
                <a:spcPts val="2240"/>
              </a:lnSpc>
              <a:buAutoNum type="arabicPeriod" startAt="1"/>
            </a:pPr>
            <a:r>
              <a:rPr lang="en-US" b="true" sz="1600">
                <a:solidFill>
                  <a:srgbClr val="FFFFFF"/>
                </a:solidFill>
                <a:latin typeface="Montserrat Bold"/>
                <a:ea typeface="Montserrat Bold"/>
                <a:cs typeface="Montserrat Bold"/>
                <a:sym typeface="Montserrat Bold"/>
              </a:rPr>
              <a:t>Sports</a:t>
            </a:r>
          </a:p>
          <a:p>
            <a:pPr algn="l" marL="345441" indent="-172721" lvl="1">
              <a:lnSpc>
                <a:spcPts val="2240"/>
              </a:lnSpc>
              <a:buAutoNum type="arabicPeriod" startAt="1"/>
            </a:pPr>
            <a:r>
              <a:rPr lang="en-US" b="true" sz="1600">
                <a:solidFill>
                  <a:srgbClr val="FFFFFF"/>
                </a:solidFill>
                <a:latin typeface="Montserrat Bold"/>
                <a:ea typeface="Montserrat Bold"/>
                <a:cs typeface="Montserrat Bold"/>
                <a:sym typeface="Montserrat Bold"/>
              </a:rPr>
              <a:t>Shooter</a:t>
            </a:r>
          </a:p>
          <a:p>
            <a:pPr algn="l" marL="345441" indent="-172721" lvl="1">
              <a:lnSpc>
                <a:spcPts val="2240"/>
              </a:lnSpc>
              <a:buAutoNum type="arabicPeriod" startAt="1"/>
            </a:pPr>
            <a:r>
              <a:rPr lang="en-US" b="true" sz="1600">
                <a:solidFill>
                  <a:srgbClr val="FFFFFF"/>
                </a:solidFill>
                <a:latin typeface="Montserrat Bold"/>
                <a:ea typeface="Montserrat Bold"/>
                <a:cs typeface="Montserrat Bold"/>
                <a:sym typeface="Montserrat Bold"/>
              </a:rPr>
              <a:t>R</a:t>
            </a:r>
            <a:r>
              <a:rPr lang="en-US" b="true" sz="1600">
                <a:solidFill>
                  <a:srgbClr val="FFFFFF"/>
                </a:solidFill>
                <a:latin typeface="Montserrat Bold"/>
                <a:ea typeface="Montserrat Bold"/>
                <a:cs typeface="Montserrat Bold"/>
                <a:sym typeface="Montserrat Bold"/>
              </a:rPr>
              <a:t>acing</a:t>
            </a:r>
          </a:p>
          <a:p>
            <a:pPr algn="l" marL="345441" indent="-172721" lvl="1">
              <a:lnSpc>
                <a:spcPts val="2240"/>
              </a:lnSpc>
              <a:buAutoNum type="arabicPeriod" startAt="1"/>
            </a:pPr>
            <a:r>
              <a:rPr lang="en-US" b="true" sz="1600">
                <a:solidFill>
                  <a:srgbClr val="FFFFFF"/>
                </a:solidFill>
                <a:latin typeface="Montserrat Bold"/>
                <a:ea typeface="Montserrat Bold"/>
                <a:cs typeface="Montserrat Bold"/>
                <a:sym typeface="Montserrat Bold"/>
              </a:rPr>
              <a:t>Platform</a:t>
            </a:r>
          </a:p>
          <a:p>
            <a:pPr algn="l">
              <a:lnSpc>
                <a:spcPts val="2240"/>
              </a:lnSpc>
            </a:pPr>
          </a:p>
          <a:p>
            <a:pPr algn="l">
              <a:lnSpc>
                <a:spcPts val="2240"/>
              </a:lnSpc>
            </a:pPr>
            <a:r>
              <a:rPr lang="en-US" sz="1600" b="true">
                <a:solidFill>
                  <a:srgbClr val="FFFFFF"/>
                </a:solidFill>
                <a:latin typeface="Montserrat Bold"/>
                <a:ea typeface="Montserrat Bold"/>
                <a:cs typeface="Montserrat Bold"/>
                <a:sym typeface="Montserrat Bold"/>
              </a:rPr>
              <a:t>These markets b</a:t>
            </a:r>
            <a:r>
              <a:rPr lang="en-US" sz="1600" b="true">
                <a:solidFill>
                  <a:srgbClr val="FFFFFF"/>
                </a:solidFill>
                <a:latin typeface="Montserrat Bold"/>
                <a:ea typeface="Montserrat Bold"/>
                <a:cs typeface="Montserrat Bold"/>
                <a:sym typeface="Montserrat Bold"/>
              </a:rPr>
              <a:t>roadly align with global patterns but maintain more balanced shares among genres, indicating a diverse but less concentrated demand.</a:t>
            </a:r>
          </a:p>
          <a:p>
            <a:pPr algn="l">
              <a:lnSpc>
                <a:spcPts val="2520"/>
              </a:lnSpc>
            </a:pPr>
          </a:p>
        </p:txBody>
      </p:sp>
      <p:sp>
        <p:nvSpPr>
          <p:cNvPr name="TextBox 24" id="24"/>
          <p:cNvSpPr txBox="true"/>
          <p:nvPr/>
        </p:nvSpPr>
        <p:spPr>
          <a:xfrm rot="0">
            <a:off x="9144000" y="1432867"/>
            <a:ext cx="8462073" cy="2754630"/>
          </a:xfrm>
          <a:prstGeom prst="rect">
            <a:avLst/>
          </a:prstGeom>
        </p:spPr>
        <p:txBody>
          <a:bodyPr anchor="t" rtlCol="false" tIns="0" lIns="0" bIns="0" rIns="0">
            <a:spAutoFit/>
          </a:bodyPr>
          <a:lstStyle/>
          <a:p>
            <a:pPr algn="l">
              <a:lnSpc>
                <a:spcPts val="2800"/>
              </a:lnSpc>
            </a:pPr>
            <a:r>
              <a:rPr lang="en-US" sz="2000" b="true">
                <a:solidFill>
                  <a:srgbClr val="FFFF00"/>
                </a:solidFill>
                <a:latin typeface="Montserrat Bold"/>
                <a:ea typeface="Montserrat Bold"/>
                <a:cs typeface="Montserrat Bold"/>
                <a:sym typeface="Montserrat Bold"/>
              </a:rPr>
              <a:t>KEY INSIGHT</a:t>
            </a:r>
          </a:p>
          <a:p>
            <a:pPr algn="l">
              <a:lnSpc>
                <a:spcPts val="2800"/>
              </a:lnSpc>
            </a:pPr>
            <a:r>
              <a:rPr lang="en-US" sz="2000" b="true">
                <a:solidFill>
                  <a:srgbClr val="2EB2FF"/>
                </a:solidFill>
                <a:latin typeface="Montserrat Bold"/>
                <a:ea typeface="Montserrat Bold"/>
                <a:cs typeface="Montserrat Bold"/>
                <a:sym typeface="Montserrat Bold"/>
              </a:rPr>
              <a:t>While Action remains the most consistently popular genre worldwide, regional variations are st</a:t>
            </a:r>
            <a:r>
              <a:rPr lang="en-US" sz="2000" b="true">
                <a:solidFill>
                  <a:srgbClr val="2EB2FF"/>
                </a:solidFill>
                <a:latin typeface="Montserrat Bold"/>
                <a:ea typeface="Montserrat Bold"/>
                <a:cs typeface="Montserrat Bold"/>
                <a:sym typeface="Montserrat Bold"/>
              </a:rPr>
              <a:t>rong. Western markets lean t</a:t>
            </a:r>
            <a:r>
              <a:rPr lang="en-US" sz="2000" b="true">
                <a:solidFill>
                  <a:srgbClr val="2EB2FF"/>
                </a:solidFill>
                <a:latin typeface="Montserrat Bold"/>
                <a:ea typeface="Montserrat Bold"/>
                <a:cs typeface="Montserrat Bold"/>
                <a:sym typeface="Montserrat Bold"/>
              </a:rPr>
              <a:t>oward competitive and sports-based gameplay, while Japan dominates in story-driven RPGs and fighting titles. Recognizing these distinctions helps GameCo tailor marketing and development investments for each regional audience.</a:t>
            </a:r>
          </a:p>
          <a:p>
            <a:pPr algn="l">
              <a:lnSpc>
                <a:spcPts val="294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51037"/>
        </a:solidFill>
      </p:bgPr>
    </p:bg>
    <p:spTree>
      <p:nvGrpSpPr>
        <p:cNvPr id="1" name=""/>
        <p:cNvGrpSpPr/>
        <p:nvPr/>
      </p:nvGrpSpPr>
      <p:grpSpPr>
        <a:xfrm>
          <a:off x="0" y="0"/>
          <a:ext cx="0" cy="0"/>
          <a:chOff x="0" y="0"/>
          <a:chExt cx="0" cy="0"/>
        </a:xfrm>
      </p:grpSpPr>
      <p:sp>
        <p:nvSpPr>
          <p:cNvPr name="Freeform 2" id="2"/>
          <p:cNvSpPr/>
          <p:nvPr/>
        </p:nvSpPr>
        <p:spPr>
          <a:xfrm flipH="false" flipV="true" rot="-2329469">
            <a:off x="4463838" y="2638992"/>
            <a:ext cx="18821161" cy="8116626"/>
          </a:xfrm>
          <a:custGeom>
            <a:avLst/>
            <a:gdLst/>
            <a:ahLst/>
            <a:cxnLst/>
            <a:rect r="r" b="b" t="t" l="l"/>
            <a:pathLst>
              <a:path h="8116626" w="18821161">
                <a:moveTo>
                  <a:pt x="0" y="8116626"/>
                </a:moveTo>
                <a:lnTo>
                  <a:pt x="18821161" y="8116626"/>
                </a:lnTo>
                <a:lnTo>
                  <a:pt x="18821161" y="0"/>
                </a:lnTo>
                <a:lnTo>
                  <a:pt x="0" y="0"/>
                </a:lnTo>
                <a:lnTo>
                  <a:pt x="0" y="811662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true" rot="-2329469">
            <a:off x="11907499" y="2638992"/>
            <a:ext cx="18821161" cy="8116626"/>
          </a:xfrm>
          <a:custGeom>
            <a:avLst/>
            <a:gdLst/>
            <a:ahLst/>
            <a:cxnLst/>
            <a:rect r="r" b="b" t="t" l="l"/>
            <a:pathLst>
              <a:path h="8116626" w="18821161">
                <a:moveTo>
                  <a:pt x="0" y="8116626"/>
                </a:moveTo>
                <a:lnTo>
                  <a:pt x="18821161" y="8116626"/>
                </a:lnTo>
                <a:lnTo>
                  <a:pt x="18821161" y="0"/>
                </a:lnTo>
                <a:lnTo>
                  <a:pt x="0" y="0"/>
                </a:lnTo>
                <a:lnTo>
                  <a:pt x="0" y="811662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9960921" y="3439298"/>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4"/>
            <a:stretch>
              <a:fillRect l="0" t="0" r="0" b="0"/>
            </a:stretch>
          </a:blipFill>
          <a:ln cap="sq">
            <a:noFill/>
            <a:prstDash val="solid"/>
            <a:miter/>
          </a:ln>
        </p:spPr>
      </p:sp>
      <p:grpSp>
        <p:nvGrpSpPr>
          <p:cNvPr name="Group 5" id="5"/>
          <p:cNvGrpSpPr/>
          <p:nvPr/>
        </p:nvGrpSpPr>
        <p:grpSpPr>
          <a:xfrm rot="0">
            <a:off x="2529930" y="2773376"/>
            <a:ext cx="13571118" cy="6991690"/>
            <a:chOff x="0" y="0"/>
            <a:chExt cx="3574286" cy="1841433"/>
          </a:xfrm>
        </p:grpSpPr>
        <p:sp>
          <p:nvSpPr>
            <p:cNvPr name="Freeform 6" id="6"/>
            <p:cNvSpPr/>
            <p:nvPr/>
          </p:nvSpPr>
          <p:spPr>
            <a:xfrm flipH="false" flipV="false" rot="0">
              <a:off x="0" y="0"/>
              <a:ext cx="3574286" cy="1841433"/>
            </a:xfrm>
            <a:custGeom>
              <a:avLst/>
              <a:gdLst/>
              <a:ahLst/>
              <a:cxnLst/>
              <a:rect r="r" b="b" t="t" l="l"/>
              <a:pathLst>
                <a:path h="1841433" w="3574286">
                  <a:moveTo>
                    <a:pt x="0" y="0"/>
                  </a:moveTo>
                  <a:lnTo>
                    <a:pt x="3574286" y="0"/>
                  </a:lnTo>
                  <a:lnTo>
                    <a:pt x="3574286" y="1841433"/>
                  </a:lnTo>
                  <a:lnTo>
                    <a:pt x="0" y="1841433"/>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7" id="7"/>
            <p:cNvSpPr txBox="true"/>
            <p:nvPr/>
          </p:nvSpPr>
          <p:spPr>
            <a:xfrm>
              <a:off x="0" y="-66675"/>
              <a:ext cx="3574286" cy="1908108"/>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8" id="8"/>
          <p:cNvSpPr/>
          <p:nvPr/>
        </p:nvSpPr>
        <p:spPr>
          <a:xfrm flipH="false" flipV="false" rot="0">
            <a:off x="2905872" y="3439298"/>
            <a:ext cx="6140127" cy="887760"/>
          </a:xfrm>
          <a:custGeom>
            <a:avLst/>
            <a:gdLst/>
            <a:ahLst/>
            <a:cxnLst/>
            <a:rect r="r" b="b" t="t" l="l"/>
            <a:pathLst>
              <a:path h="887760" w="6140127">
                <a:moveTo>
                  <a:pt x="0" y="0"/>
                </a:moveTo>
                <a:lnTo>
                  <a:pt x="6140126" y="0"/>
                </a:lnTo>
                <a:lnTo>
                  <a:pt x="6140126" y="887760"/>
                </a:lnTo>
                <a:lnTo>
                  <a:pt x="0" y="887760"/>
                </a:lnTo>
                <a:lnTo>
                  <a:pt x="0" y="0"/>
                </a:lnTo>
                <a:close/>
              </a:path>
            </a:pathLst>
          </a:custGeom>
          <a:blipFill>
            <a:blip r:embed="rId4"/>
            <a:stretch>
              <a:fillRect l="0" t="0" r="0" b="0"/>
            </a:stretch>
          </a:blipFill>
          <a:ln cap="sq">
            <a:noFill/>
            <a:prstDash val="solid"/>
            <a:miter/>
          </a:ln>
        </p:spPr>
      </p:sp>
      <p:sp>
        <p:nvSpPr>
          <p:cNvPr name="Freeform 9" id="9"/>
          <p:cNvSpPr/>
          <p:nvPr/>
        </p:nvSpPr>
        <p:spPr>
          <a:xfrm flipH="true" flipV="true" rot="0">
            <a:off x="2669759" y="3992653"/>
            <a:ext cx="472226" cy="472226"/>
          </a:xfrm>
          <a:custGeom>
            <a:avLst/>
            <a:gdLst/>
            <a:ahLst/>
            <a:cxnLst/>
            <a:rect r="r" b="b" t="t" l="l"/>
            <a:pathLst>
              <a:path h="472226" w="472226">
                <a:moveTo>
                  <a:pt x="472225" y="472225"/>
                </a:moveTo>
                <a:lnTo>
                  <a:pt x="0" y="472225"/>
                </a:lnTo>
                <a:lnTo>
                  <a:pt x="0" y="0"/>
                </a:lnTo>
                <a:lnTo>
                  <a:pt x="472225" y="0"/>
                </a:lnTo>
                <a:lnTo>
                  <a:pt x="472225" y="472225"/>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476625" y="1601633"/>
            <a:ext cx="3870020" cy="3326605"/>
          </a:xfrm>
          <a:custGeom>
            <a:avLst/>
            <a:gdLst/>
            <a:ahLst/>
            <a:cxnLst/>
            <a:rect r="r" b="b" t="t" l="l"/>
            <a:pathLst>
              <a:path h="3326605" w="3870020">
                <a:moveTo>
                  <a:pt x="0" y="0"/>
                </a:moveTo>
                <a:lnTo>
                  <a:pt x="3870020" y="0"/>
                </a:lnTo>
                <a:lnTo>
                  <a:pt x="3870020" y="3326605"/>
                </a:lnTo>
                <a:lnTo>
                  <a:pt x="0" y="332660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4888119" y="3264935"/>
            <a:ext cx="8235940" cy="4887899"/>
          </a:xfrm>
          <a:custGeom>
            <a:avLst/>
            <a:gdLst/>
            <a:ahLst/>
            <a:cxnLst/>
            <a:rect r="r" b="b" t="t" l="l"/>
            <a:pathLst>
              <a:path h="4887899" w="8235940">
                <a:moveTo>
                  <a:pt x="0" y="0"/>
                </a:moveTo>
                <a:lnTo>
                  <a:pt x="8235940" y="0"/>
                </a:lnTo>
                <a:lnTo>
                  <a:pt x="8235940" y="4887899"/>
                </a:lnTo>
                <a:lnTo>
                  <a:pt x="0" y="4887899"/>
                </a:lnTo>
                <a:lnTo>
                  <a:pt x="0" y="0"/>
                </a:lnTo>
                <a:close/>
              </a:path>
            </a:pathLst>
          </a:custGeom>
          <a:blipFill>
            <a:blip r:embed="rId9"/>
            <a:stretch>
              <a:fillRect l="-5405" t="-8784" r="0" b="-11076"/>
            </a:stretch>
          </a:blipFill>
        </p:spPr>
      </p:sp>
      <p:sp>
        <p:nvSpPr>
          <p:cNvPr name="TextBox 12" id="12"/>
          <p:cNvSpPr txBox="true"/>
          <p:nvPr/>
        </p:nvSpPr>
        <p:spPr>
          <a:xfrm rot="0">
            <a:off x="4779389" y="2048585"/>
            <a:ext cx="8344670" cy="391417"/>
          </a:xfrm>
          <a:prstGeom prst="rect">
            <a:avLst/>
          </a:prstGeom>
        </p:spPr>
        <p:txBody>
          <a:bodyPr anchor="t" rtlCol="false" tIns="0" lIns="0" bIns="0" rIns="0">
            <a:spAutoFit/>
          </a:bodyPr>
          <a:lstStyle/>
          <a:p>
            <a:pPr algn="l">
              <a:lnSpc>
                <a:spcPts val="2828"/>
              </a:lnSpc>
            </a:pPr>
            <a:r>
              <a:rPr lang="en-US" sz="2800" b="true">
                <a:solidFill>
                  <a:srgbClr val="FF2CED"/>
                </a:solidFill>
                <a:latin typeface="Poppins Bold"/>
                <a:ea typeface="Poppins Bold"/>
                <a:cs typeface="Poppins Bold"/>
                <a:sym typeface="Poppins Bold"/>
              </a:rPr>
              <a:t>2016 REGIONAL TOTALS MILLIONS OF UNITS</a:t>
            </a:r>
          </a:p>
        </p:txBody>
      </p:sp>
      <p:sp>
        <p:nvSpPr>
          <p:cNvPr name="Freeform 13" id="13"/>
          <p:cNvSpPr/>
          <p:nvPr/>
        </p:nvSpPr>
        <p:spPr>
          <a:xfrm flipH="false" flipV="false" rot="0">
            <a:off x="12428862" y="557009"/>
            <a:ext cx="5347588" cy="3770050"/>
          </a:xfrm>
          <a:custGeom>
            <a:avLst/>
            <a:gdLst/>
            <a:ahLst/>
            <a:cxnLst/>
            <a:rect r="r" b="b" t="t" l="l"/>
            <a:pathLst>
              <a:path h="3770050" w="5347588">
                <a:moveTo>
                  <a:pt x="0" y="0"/>
                </a:moveTo>
                <a:lnTo>
                  <a:pt x="5347588" y="0"/>
                </a:lnTo>
                <a:lnTo>
                  <a:pt x="5347588" y="3770049"/>
                </a:lnTo>
                <a:lnTo>
                  <a:pt x="0" y="3770049"/>
                </a:lnTo>
                <a:lnTo>
                  <a:pt x="0" y="0"/>
                </a:lnTo>
                <a:close/>
              </a:path>
            </a:pathLst>
          </a:custGeom>
          <a:blipFill>
            <a:blip r:embed="rId10"/>
            <a:stretch>
              <a:fillRect l="0" t="0" r="0" b="0"/>
            </a:stretch>
          </a:blipFill>
        </p:spPr>
      </p:sp>
      <p:sp>
        <p:nvSpPr>
          <p:cNvPr name="TextBox 14" id="14"/>
          <p:cNvSpPr txBox="true"/>
          <p:nvPr/>
        </p:nvSpPr>
        <p:spPr>
          <a:xfrm rot="0">
            <a:off x="2815043" y="8257229"/>
            <a:ext cx="13000891" cy="1339850"/>
          </a:xfrm>
          <a:prstGeom prst="rect">
            <a:avLst/>
          </a:prstGeom>
        </p:spPr>
        <p:txBody>
          <a:bodyPr anchor="t" rtlCol="false" tIns="0" lIns="0" bIns="0" rIns="0">
            <a:spAutoFit/>
          </a:bodyPr>
          <a:lstStyle/>
          <a:p>
            <a:pPr algn="l">
              <a:lnSpc>
                <a:spcPts val="2640"/>
              </a:lnSpc>
            </a:pPr>
            <a:r>
              <a:rPr lang="en-US" sz="2200">
                <a:solidFill>
                  <a:srgbClr val="F9FCFE"/>
                </a:solidFill>
                <a:latin typeface="Poppins"/>
                <a:ea typeface="Poppins"/>
                <a:cs typeface="Poppins"/>
                <a:sym typeface="Poppins"/>
              </a:rPr>
              <a:t>EUROPE OVERTAKES NORTH AMERICA IN 2016 WITH ~27M UNITS SOLD COMPARED TO ~23M IN NA. JAPAN (~14M) AND OTHER REGIONS (~8M) REMAIN SMALLER BUT MEANINGFUL. </a:t>
            </a:r>
            <a:r>
              <a:rPr lang="en-US" sz="2200" b="true">
                <a:solidFill>
                  <a:srgbClr val="00CCFF"/>
                </a:solidFill>
                <a:latin typeface="Poppins Bold"/>
                <a:ea typeface="Poppins Bold"/>
                <a:cs typeface="Poppins Bold"/>
                <a:sym typeface="Poppins Bold"/>
              </a:rPr>
              <a:t>THIS CONFIRMS THE TREND THAT EU IS NOW GAMECO’S LARGEST REGIONAL MARKET, CHALLENGING THE ASSUMPTION THAT NA ALWAYS LEADS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51037"/>
        </a:solidFill>
      </p:bgPr>
    </p:bg>
    <p:spTree>
      <p:nvGrpSpPr>
        <p:cNvPr id="1" name=""/>
        <p:cNvGrpSpPr/>
        <p:nvPr/>
      </p:nvGrpSpPr>
      <p:grpSpPr>
        <a:xfrm>
          <a:off x="0" y="0"/>
          <a:ext cx="0" cy="0"/>
          <a:chOff x="0" y="0"/>
          <a:chExt cx="0" cy="0"/>
        </a:xfrm>
      </p:grpSpPr>
      <p:sp>
        <p:nvSpPr>
          <p:cNvPr name="Freeform 2" id="2"/>
          <p:cNvSpPr/>
          <p:nvPr/>
        </p:nvSpPr>
        <p:spPr>
          <a:xfrm flipH="false" flipV="true" rot="-2329469">
            <a:off x="4463838" y="2638992"/>
            <a:ext cx="18821161" cy="8116626"/>
          </a:xfrm>
          <a:custGeom>
            <a:avLst/>
            <a:gdLst/>
            <a:ahLst/>
            <a:cxnLst/>
            <a:rect r="r" b="b" t="t" l="l"/>
            <a:pathLst>
              <a:path h="8116626" w="18821161">
                <a:moveTo>
                  <a:pt x="0" y="8116626"/>
                </a:moveTo>
                <a:lnTo>
                  <a:pt x="18821161" y="8116626"/>
                </a:lnTo>
                <a:lnTo>
                  <a:pt x="18821161" y="0"/>
                </a:lnTo>
                <a:lnTo>
                  <a:pt x="0" y="0"/>
                </a:lnTo>
                <a:lnTo>
                  <a:pt x="0" y="811662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true" rot="-2329469">
            <a:off x="11907499" y="2638992"/>
            <a:ext cx="18821161" cy="8116626"/>
          </a:xfrm>
          <a:custGeom>
            <a:avLst/>
            <a:gdLst/>
            <a:ahLst/>
            <a:cxnLst/>
            <a:rect r="r" b="b" t="t" l="l"/>
            <a:pathLst>
              <a:path h="8116626" w="18821161">
                <a:moveTo>
                  <a:pt x="0" y="8116626"/>
                </a:moveTo>
                <a:lnTo>
                  <a:pt x="18821161" y="8116626"/>
                </a:lnTo>
                <a:lnTo>
                  <a:pt x="18821161" y="0"/>
                </a:lnTo>
                <a:lnTo>
                  <a:pt x="0" y="0"/>
                </a:lnTo>
                <a:lnTo>
                  <a:pt x="0" y="811662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9960921" y="3439298"/>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4"/>
            <a:stretch>
              <a:fillRect l="0" t="0" r="0" b="0"/>
            </a:stretch>
          </a:blipFill>
          <a:ln cap="sq">
            <a:noFill/>
            <a:prstDash val="solid"/>
            <a:miter/>
          </a:ln>
        </p:spPr>
      </p:sp>
      <p:grpSp>
        <p:nvGrpSpPr>
          <p:cNvPr name="Group 5" id="5"/>
          <p:cNvGrpSpPr/>
          <p:nvPr/>
        </p:nvGrpSpPr>
        <p:grpSpPr>
          <a:xfrm rot="0">
            <a:off x="2529930" y="2099608"/>
            <a:ext cx="13571118" cy="8187392"/>
            <a:chOff x="0" y="0"/>
            <a:chExt cx="3574286" cy="2156350"/>
          </a:xfrm>
        </p:grpSpPr>
        <p:sp>
          <p:nvSpPr>
            <p:cNvPr name="Freeform 6" id="6"/>
            <p:cNvSpPr/>
            <p:nvPr/>
          </p:nvSpPr>
          <p:spPr>
            <a:xfrm flipH="false" flipV="false" rot="0">
              <a:off x="0" y="0"/>
              <a:ext cx="3574286" cy="2156350"/>
            </a:xfrm>
            <a:custGeom>
              <a:avLst/>
              <a:gdLst/>
              <a:ahLst/>
              <a:cxnLst/>
              <a:rect r="r" b="b" t="t" l="l"/>
              <a:pathLst>
                <a:path h="2156350" w="3574286">
                  <a:moveTo>
                    <a:pt x="0" y="0"/>
                  </a:moveTo>
                  <a:lnTo>
                    <a:pt x="3574286" y="0"/>
                  </a:lnTo>
                  <a:lnTo>
                    <a:pt x="3574286" y="2156350"/>
                  </a:lnTo>
                  <a:lnTo>
                    <a:pt x="0" y="2156350"/>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7" id="7"/>
            <p:cNvSpPr txBox="true"/>
            <p:nvPr/>
          </p:nvSpPr>
          <p:spPr>
            <a:xfrm>
              <a:off x="0" y="-66675"/>
              <a:ext cx="3574286" cy="2223025"/>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8" id="8"/>
          <p:cNvSpPr/>
          <p:nvPr/>
        </p:nvSpPr>
        <p:spPr>
          <a:xfrm flipH="false" flipV="false" rot="0">
            <a:off x="2905872" y="3439298"/>
            <a:ext cx="6140127" cy="887760"/>
          </a:xfrm>
          <a:custGeom>
            <a:avLst/>
            <a:gdLst/>
            <a:ahLst/>
            <a:cxnLst/>
            <a:rect r="r" b="b" t="t" l="l"/>
            <a:pathLst>
              <a:path h="887760" w="6140127">
                <a:moveTo>
                  <a:pt x="0" y="0"/>
                </a:moveTo>
                <a:lnTo>
                  <a:pt x="6140126" y="0"/>
                </a:lnTo>
                <a:lnTo>
                  <a:pt x="6140126" y="887760"/>
                </a:lnTo>
                <a:lnTo>
                  <a:pt x="0" y="887760"/>
                </a:lnTo>
                <a:lnTo>
                  <a:pt x="0" y="0"/>
                </a:lnTo>
                <a:close/>
              </a:path>
            </a:pathLst>
          </a:custGeom>
          <a:blipFill>
            <a:blip r:embed="rId4"/>
            <a:stretch>
              <a:fillRect l="0" t="0" r="0" b="0"/>
            </a:stretch>
          </a:blipFill>
          <a:ln cap="sq">
            <a:noFill/>
            <a:prstDash val="solid"/>
            <a:miter/>
          </a:ln>
        </p:spPr>
      </p:sp>
      <p:sp>
        <p:nvSpPr>
          <p:cNvPr name="Freeform 9" id="9"/>
          <p:cNvSpPr/>
          <p:nvPr/>
        </p:nvSpPr>
        <p:spPr>
          <a:xfrm flipH="true" flipV="true" rot="0">
            <a:off x="2669759" y="3992653"/>
            <a:ext cx="472226" cy="472226"/>
          </a:xfrm>
          <a:custGeom>
            <a:avLst/>
            <a:gdLst/>
            <a:ahLst/>
            <a:cxnLst/>
            <a:rect r="r" b="b" t="t" l="l"/>
            <a:pathLst>
              <a:path h="472226" w="472226">
                <a:moveTo>
                  <a:pt x="472225" y="472225"/>
                </a:moveTo>
                <a:lnTo>
                  <a:pt x="0" y="472225"/>
                </a:lnTo>
                <a:lnTo>
                  <a:pt x="0" y="0"/>
                </a:lnTo>
                <a:lnTo>
                  <a:pt x="472225" y="0"/>
                </a:lnTo>
                <a:lnTo>
                  <a:pt x="472225" y="472225"/>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3998611" y="1200860"/>
            <a:ext cx="9018439" cy="1420117"/>
          </a:xfrm>
          <a:prstGeom prst="rect">
            <a:avLst/>
          </a:prstGeom>
        </p:spPr>
        <p:txBody>
          <a:bodyPr anchor="t" rtlCol="false" tIns="0" lIns="0" bIns="0" rIns="0">
            <a:spAutoFit/>
          </a:bodyPr>
          <a:lstStyle/>
          <a:p>
            <a:pPr algn="l">
              <a:lnSpc>
                <a:spcPts val="2828"/>
              </a:lnSpc>
            </a:pPr>
            <a:r>
              <a:rPr lang="en-US" sz="2800" b="true">
                <a:solidFill>
                  <a:srgbClr val="FF2CED"/>
                </a:solidFill>
                <a:latin typeface="Poppins Bold"/>
                <a:ea typeface="Poppins Bold"/>
                <a:cs typeface="Poppins Bold"/>
                <a:sym typeface="Poppins Bold"/>
              </a:rPr>
              <a:t>APPENDIX: </a:t>
            </a:r>
          </a:p>
          <a:p>
            <a:pPr algn="l">
              <a:lnSpc>
                <a:spcPts val="2828"/>
              </a:lnSpc>
            </a:pPr>
            <a:r>
              <a:rPr lang="en-US" sz="2800" b="true">
                <a:solidFill>
                  <a:srgbClr val="FF2CED"/>
                </a:solidFill>
                <a:latin typeface="Poppins Bold"/>
                <a:ea typeface="Poppins Bold"/>
                <a:cs typeface="Poppins Bold"/>
                <a:sym typeface="Poppins Bold"/>
              </a:rPr>
              <a:t>PER‑GAME SALES DISTRIBUTION BY REGION 2016</a:t>
            </a:r>
          </a:p>
          <a:p>
            <a:pPr algn="l">
              <a:lnSpc>
                <a:spcPts val="2828"/>
              </a:lnSpc>
            </a:pPr>
          </a:p>
          <a:p>
            <a:pPr algn="l">
              <a:lnSpc>
                <a:spcPts val="2828"/>
              </a:lnSpc>
            </a:pPr>
          </a:p>
        </p:txBody>
      </p:sp>
      <p:sp>
        <p:nvSpPr>
          <p:cNvPr name="Freeform 11" id="11"/>
          <p:cNvSpPr/>
          <p:nvPr/>
        </p:nvSpPr>
        <p:spPr>
          <a:xfrm flipH="false" flipV="false" rot="0">
            <a:off x="4375667" y="2874439"/>
            <a:ext cx="9340663" cy="5458869"/>
          </a:xfrm>
          <a:custGeom>
            <a:avLst/>
            <a:gdLst/>
            <a:ahLst/>
            <a:cxnLst/>
            <a:rect r="r" b="b" t="t" l="l"/>
            <a:pathLst>
              <a:path h="5458869" w="9340663">
                <a:moveTo>
                  <a:pt x="0" y="0"/>
                </a:moveTo>
                <a:lnTo>
                  <a:pt x="9340663" y="0"/>
                </a:lnTo>
                <a:lnTo>
                  <a:pt x="9340663" y="5458869"/>
                </a:lnTo>
                <a:lnTo>
                  <a:pt x="0" y="5458869"/>
                </a:lnTo>
                <a:lnTo>
                  <a:pt x="0" y="0"/>
                </a:lnTo>
                <a:close/>
              </a:path>
            </a:pathLst>
          </a:custGeom>
          <a:blipFill>
            <a:blip r:embed="rId7"/>
            <a:stretch>
              <a:fillRect l="0" t="0" r="-2576" b="-1983"/>
            </a:stretch>
          </a:blipFill>
        </p:spPr>
      </p:sp>
      <p:sp>
        <p:nvSpPr>
          <p:cNvPr name="Freeform 12" id="12"/>
          <p:cNvSpPr/>
          <p:nvPr/>
        </p:nvSpPr>
        <p:spPr>
          <a:xfrm flipH="false" flipV="false" rot="0">
            <a:off x="12537146" y="557009"/>
            <a:ext cx="5347588" cy="3770050"/>
          </a:xfrm>
          <a:custGeom>
            <a:avLst/>
            <a:gdLst/>
            <a:ahLst/>
            <a:cxnLst/>
            <a:rect r="r" b="b" t="t" l="l"/>
            <a:pathLst>
              <a:path h="3770050" w="5347588">
                <a:moveTo>
                  <a:pt x="0" y="0"/>
                </a:moveTo>
                <a:lnTo>
                  <a:pt x="5347588" y="0"/>
                </a:lnTo>
                <a:lnTo>
                  <a:pt x="5347588" y="3770049"/>
                </a:lnTo>
                <a:lnTo>
                  <a:pt x="0" y="3770049"/>
                </a:lnTo>
                <a:lnTo>
                  <a:pt x="0" y="0"/>
                </a:lnTo>
                <a:close/>
              </a:path>
            </a:pathLst>
          </a:custGeom>
          <a:blipFill>
            <a:blip r:embed="rId8"/>
            <a:stretch>
              <a:fillRect l="0" t="0" r="0" b="0"/>
            </a:stretch>
          </a:blipFill>
        </p:spPr>
      </p:sp>
      <p:sp>
        <p:nvSpPr>
          <p:cNvPr name="Freeform 13" id="13"/>
          <p:cNvSpPr/>
          <p:nvPr/>
        </p:nvSpPr>
        <p:spPr>
          <a:xfrm flipH="false" flipV="false" rot="0">
            <a:off x="308183" y="1601633"/>
            <a:ext cx="3870020" cy="3326605"/>
          </a:xfrm>
          <a:custGeom>
            <a:avLst/>
            <a:gdLst/>
            <a:ahLst/>
            <a:cxnLst/>
            <a:rect r="r" b="b" t="t" l="l"/>
            <a:pathLst>
              <a:path h="3326605" w="3870020">
                <a:moveTo>
                  <a:pt x="0" y="0"/>
                </a:moveTo>
                <a:lnTo>
                  <a:pt x="3870020" y="0"/>
                </a:lnTo>
                <a:lnTo>
                  <a:pt x="3870020" y="3326605"/>
                </a:lnTo>
                <a:lnTo>
                  <a:pt x="0" y="332660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4" id="14"/>
          <p:cNvSpPr txBox="true"/>
          <p:nvPr/>
        </p:nvSpPr>
        <p:spPr>
          <a:xfrm rot="0">
            <a:off x="2905872" y="8571433"/>
            <a:ext cx="13000891" cy="1426844"/>
          </a:xfrm>
          <a:prstGeom prst="rect">
            <a:avLst/>
          </a:prstGeom>
        </p:spPr>
        <p:txBody>
          <a:bodyPr anchor="t" rtlCol="false" tIns="0" lIns="0" bIns="0" rIns="0">
            <a:spAutoFit/>
          </a:bodyPr>
          <a:lstStyle/>
          <a:p>
            <a:pPr algn="l">
              <a:lnSpc>
                <a:spcPts val="2875"/>
              </a:lnSpc>
            </a:pPr>
            <a:r>
              <a:rPr lang="en-US" sz="2300" spc="-16">
                <a:solidFill>
                  <a:srgbClr val="F9FCFE"/>
                </a:solidFill>
                <a:latin typeface="Poppins"/>
                <a:ea typeface="Poppins"/>
                <a:cs typeface="Poppins"/>
                <a:sym typeface="Poppins"/>
              </a:rPr>
              <a:t>MOST TITLES SELL ONLY MODESTLY, BUT A FEW BLOCKBUSTERS ACCOUNT FOR A DISPROPORTIONATE SHARE OF UNITS ACROSS REGIONS. EUROPE AND NA SHOW THE WIDEST SPREAD OF OUTCOMES, WHILE JAPAN’S DISTRIBUTION IS MORE CONSISTENT. </a:t>
            </a:r>
            <a:r>
              <a:rPr lang="en-US" b="true" sz="2300" spc="-16">
                <a:solidFill>
                  <a:srgbClr val="00CCFF"/>
                </a:solidFill>
                <a:latin typeface="Poppins Bold"/>
                <a:ea typeface="Poppins Bold"/>
                <a:cs typeface="Poppins Bold"/>
                <a:sym typeface="Poppins Bold"/>
              </a:rPr>
              <a:t>THIS LONG-TAIL PATTERN HIGHLIGHTS THE NEED TO BUDGET FOR BROAD COVERAGE WHILE STAYING AGILE TO BACK BREAKOUT HITS QUICKLY.</a:t>
            </a:r>
          </a:p>
        </p:txBody>
      </p:sp>
      <p:sp>
        <p:nvSpPr>
          <p:cNvPr name="Freeform 15" id="15"/>
          <p:cNvSpPr/>
          <p:nvPr/>
        </p:nvSpPr>
        <p:spPr>
          <a:xfrm flipH="false" flipV="false" rot="0">
            <a:off x="13228721" y="4583967"/>
            <a:ext cx="4220328" cy="3587279"/>
          </a:xfrm>
          <a:custGeom>
            <a:avLst/>
            <a:gdLst/>
            <a:ahLst/>
            <a:cxnLst/>
            <a:rect r="r" b="b" t="t" l="l"/>
            <a:pathLst>
              <a:path h="3587279" w="4220328">
                <a:moveTo>
                  <a:pt x="0" y="0"/>
                </a:moveTo>
                <a:lnTo>
                  <a:pt x="4220328" y="0"/>
                </a:lnTo>
                <a:lnTo>
                  <a:pt x="4220328" y="3587279"/>
                </a:lnTo>
                <a:lnTo>
                  <a:pt x="0" y="358727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DAG0zicRboA</dc:identifier>
  <dcterms:modified xsi:type="dcterms:W3CDTF">2011-08-01T06:04:30Z</dcterms:modified>
  <cp:revision>1</cp:revision>
  <dc:title>GameCo_Presentation_SonjaMorris</dc:title>
</cp:coreProperties>
</file>